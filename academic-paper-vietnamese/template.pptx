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8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8" r:id="rId16"/>
    <p:sldId id="297" r:id="rId17"/>
    <p:sldId id="291" r:id="rId18"/>
    <p:sldId id="292" r:id="rId19"/>
    <p:sldId id="293" r:id="rId20"/>
    <p:sldId id="299" r:id="rId21"/>
    <p:sldId id="300" r:id="rId22"/>
    <p:sldId id="301" r:id="rId23"/>
    <p:sldId id="294" r:id="rId24"/>
    <p:sldId id="295" r:id="rId25"/>
    <p:sldId id="29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2A606-2C9B-4270-8C57-A01F430D5B8F}" v="14" dt="2026-06-08T15:56:24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 Nguyen Truong Minh" userId="f195eebd6133826f" providerId="LiveId" clId="{4330105A-28A6-4F18-89DE-96B2E0FC7D93}"/>
    <pc:docChg chg="undo custSel modSld">
      <pc:chgData name="Hoang Nguyen Truong Minh" userId="f195eebd6133826f" providerId="LiveId" clId="{4330105A-28A6-4F18-89DE-96B2E0FC7D93}" dt="2026-06-08T15:56:24.142" v="110" actId="108"/>
      <pc:docMkLst>
        <pc:docMk/>
      </pc:docMkLst>
      <pc:sldChg chg="modSp mod">
        <pc:chgData name="Hoang Nguyen Truong Minh" userId="f195eebd6133826f" providerId="LiveId" clId="{4330105A-28A6-4F18-89DE-96B2E0FC7D93}" dt="2026-06-08T15:56:24.142" v="110" actId="108"/>
        <pc:sldMkLst>
          <pc:docMk/>
          <pc:sldMk cId="3564004510" sldId="258"/>
        </pc:sldMkLst>
        <pc:spChg chg="mod">
          <ac:chgData name="Hoang Nguyen Truong Minh" userId="f195eebd6133826f" providerId="LiveId" clId="{4330105A-28A6-4F18-89DE-96B2E0FC7D93}" dt="2026-06-08T15:56:24.142" v="110" actId="108"/>
          <ac:spMkLst>
            <pc:docMk/>
            <pc:sldMk cId="3564004510" sldId="258"/>
            <ac:spMk id="7" creationId="{00000000-0000-0000-0000-000000000000}"/>
          </ac:spMkLst>
        </pc:spChg>
        <pc:spChg chg="mod">
          <ac:chgData name="Hoang Nguyen Truong Minh" userId="f195eebd6133826f" providerId="LiveId" clId="{4330105A-28A6-4F18-89DE-96B2E0FC7D93}" dt="2026-06-08T15:54:44.914" v="83" actId="20577"/>
          <ac:spMkLst>
            <pc:docMk/>
            <pc:sldMk cId="3564004510" sldId="258"/>
            <ac:spMk id="8" creationId="{00000000-0000-0000-0000-000000000000}"/>
          </ac:spMkLst>
        </pc:spChg>
      </pc:sldChg>
      <pc:sldChg chg="modSp mod">
        <pc:chgData name="Hoang Nguyen Truong Minh" userId="f195eebd6133826f" providerId="LiveId" clId="{4330105A-28A6-4F18-89DE-96B2E0FC7D93}" dt="2026-06-08T15:55:44.542" v="104" actId="20577"/>
        <pc:sldMkLst>
          <pc:docMk/>
          <pc:sldMk cId="2738630751" sldId="278"/>
        </pc:sldMkLst>
        <pc:spChg chg="mod">
          <ac:chgData name="Hoang Nguyen Truong Minh" userId="f195eebd6133826f" providerId="LiveId" clId="{4330105A-28A6-4F18-89DE-96B2E0FC7D93}" dt="2026-06-08T15:55:44.542" v="104" actId="20577"/>
          <ac:spMkLst>
            <pc:docMk/>
            <pc:sldMk cId="2738630751" sldId="278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3E9BC-2B48-4A53-A0C9-64B6FA19A092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FC696-34BD-4B75-B586-550FD4CCA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58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</a:t>
            </a:r>
            <a:r>
              <a:rPr lang="en-US" b="1" dirty="0" err="1"/>
              <a:t>Seeed</a:t>
            </a:r>
            <a:r>
              <a:rPr lang="en-US" b="1" dirty="0"/>
              <a:t> Studio XIAO nRF52840 Sense</a:t>
            </a:r>
            <a:r>
              <a:rPr lang="en-US" dirty="0"/>
              <a:t> is a compact yet powerful development board designed specifically for IoT applications and sensor-based projects. It integrates a range of advanced capabilities such as Bluetooth Low Energy (BLE), environmental sensors, and an ultra-small form factor, making it an ideal choice for wearable devices and remote sensing systems.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FC696-34BD-4B75-B586-550FD4CCA43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85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12FCC-F768-B947-D863-6A0AEE3C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EB8EF-0E3A-B2FB-750D-92391F0CA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B533AC-1C5F-B795-EAE9-1232FFA13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</a:t>
            </a:r>
            <a:r>
              <a:rPr lang="en-US" b="1" dirty="0" err="1"/>
              <a:t>Seeed</a:t>
            </a:r>
            <a:r>
              <a:rPr lang="en-US" b="1" dirty="0"/>
              <a:t> Studio XIAO nRF52840 Sense</a:t>
            </a:r>
            <a:r>
              <a:rPr lang="en-US" dirty="0"/>
              <a:t> is a compact yet powerful development board designed specifically for IoT applications and sensor-based projects. It integrates a range of advanced capabilities such as Bluetooth Low Energy (BLE), environmental sensors, and an ultra-small form factor, making it an ideal choice for wearable devices and remote sensing systems.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9957C-20FD-B281-F6D7-B6E50FD79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7FC696-34BD-4B75-B586-550FD4CCA4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752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95976-4AB2-A1DC-8EC7-22B8B4135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55C45-AE64-AA0A-110C-63C1363F30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A4DB0-39A7-7EDD-BDDE-B8C1377B4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</a:t>
            </a:r>
            <a:r>
              <a:rPr lang="en-US" b="1" dirty="0" err="1"/>
              <a:t>Seeed</a:t>
            </a:r>
            <a:r>
              <a:rPr lang="en-US" b="1" dirty="0"/>
              <a:t> Studio XIAO nRF52840 Sense</a:t>
            </a:r>
            <a:r>
              <a:rPr lang="en-US" dirty="0"/>
              <a:t> is a compact yet powerful development board designed specifically for IoT applications and sensor-based projects. It integrates a range of advanced capabilities such as Bluetooth Low Energy (BLE), environmental sensors, and an ultra-small form factor, making it an ideal choice for wearable devices and remote sensing systems.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B0C2A-9CE8-BA51-1DEF-D7B38DD623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7FC696-34BD-4B75-B586-550FD4CCA43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473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Edge Impulse Studio</a:t>
            </a:r>
            <a:r>
              <a:rPr lang="en-US" dirty="0"/>
              <a:t> is a powerful platform used to create and deploy machine learning models for embedded devices like the </a:t>
            </a:r>
            <a:r>
              <a:rPr lang="en-US" b="1" dirty="0" err="1"/>
              <a:t>Seeed</a:t>
            </a:r>
            <a:r>
              <a:rPr lang="en-US" b="1" dirty="0"/>
              <a:t> XIAO nRF52840 Sense</a:t>
            </a:r>
            <a:r>
              <a:rPr lang="en-US" dirty="0"/>
              <a:t>. This platform facilitates the entire AI workflow, from data collection to deployment, enabling you to easily integrate AI-based motion tracking models.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FC696-34BD-4B75-B586-550FD4CCA43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024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71247" y="5990606"/>
            <a:ext cx="4264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</a:rPr>
              <a:t>ĐẠI</a:t>
            </a:r>
            <a:r>
              <a:rPr lang="en-US" sz="1200" baseline="0" dirty="0">
                <a:solidFill>
                  <a:schemeClr val="accent1"/>
                </a:solidFill>
              </a:rPr>
              <a:t> HỌC QUỐC GIA THÀNH PHỐ HỒ CHÍ MINH</a:t>
            </a:r>
          </a:p>
          <a:p>
            <a:pPr algn="ctr"/>
            <a:r>
              <a:rPr lang="en-US" sz="1200" b="1" baseline="0" dirty="0">
                <a:solidFill>
                  <a:schemeClr val="accent1">
                    <a:lumMod val="50000"/>
                  </a:schemeClr>
                </a:solidFill>
              </a:rPr>
              <a:t>TRƯỜNG ĐẠI HỌC BÁCH KHOA</a:t>
            </a:r>
            <a:endParaRPr lang="en-US" sz="12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28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7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54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113412" y="1825625"/>
            <a:ext cx="0" cy="4222478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accent1">
                    <a:lumMod val="50000"/>
                  </a:schemeClr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44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825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694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12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2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59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2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874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2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54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544287"/>
            <a:ext cx="4809899" cy="783771"/>
          </a:xfrm>
          <a:solidFill>
            <a:schemeClr val="accent1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anchor="b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621971"/>
            <a:ext cx="4809899" cy="456769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1097" y="544285"/>
            <a:ext cx="4797835" cy="783772"/>
          </a:xfrm>
          <a:solidFill>
            <a:schemeClr val="accent1">
              <a:lumMod val="5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anchor="b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553" y="1621971"/>
            <a:ext cx="4797835" cy="456769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63177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7000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70000"/>
            <a:ext cx="2743200" cy="365125"/>
          </a:xfrm>
          <a:prstGeom prst="rect">
            <a:avLst/>
          </a:prstGeom>
        </p:spPr>
        <p:txBody>
          <a:bodyPr/>
          <a:lstStyle/>
          <a:p>
            <a:fld id="{1880F96C-824F-4C37-99B8-7E149B40C9D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113412" y="544290"/>
            <a:ext cx="0" cy="5503817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0000">
                  <a:schemeClr val="accent1">
                    <a:lumMod val="50000"/>
                  </a:schemeClr>
                </a:gs>
                <a:gs pos="8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a:ln>
          <a:effectLst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164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90" y="0"/>
            <a:ext cx="7008812" cy="6858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63177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5/10/2019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9788" y="457204"/>
            <a:ext cx="3932237" cy="122137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8202" y="1881156"/>
            <a:ext cx="3933825" cy="0"/>
          </a:xfrm>
          <a:prstGeom prst="line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267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>
          <a:xfrm>
            <a:off x="1762127" y="908228"/>
            <a:ext cx="4171951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5000">
                  <a:srgbClr val="0070C0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4827" y="133350"/>
            <a:ext cx="7038975" cy="774878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2400" b="1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1762127" y="1038225"/>
            <a:ext cx="4248151" cy="774878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1350" i="1"/>
            </a:lvl1pPr>
          </a:lstStyle>
          <a:p>
            <a:pPr lvl="0"/>
            <a:endParaRPr lang="en-US" dirty="0"/>
          </a:p>
        </p:txBody>
      </p:sp>
      <p:sp>
        <p:nvSpPr>
          <p:cNvPr id="12" name="Chart Placeholder 11"/>
          <p:cNvSpPr>
            <a:spLocks noGrp="1"/>
          </p:cNvSpPr>
          <p:nvPr>
            <p:ph type="chart" sz="quarter" idx="12"/>
          </p:nvPr>
        </p:nvSpPr>
        <p:spPr>
          <a:xfrm>
            <a:off x="200027" y="1645006"/>
            <a:ext cx="7115175" cy="428907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9215" y="1645010"/>
            <a:ext cx="3932237" cy="5000091"/>
          </a:xfrm>
        </p:spPr>
        <p:txBody>
          <a:bodyPr/>
          <a:lstStyle>
            <a:lvl1pPr marL="0" indent="0">
              <a:buNone/>
              <a:defRPr sz="15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52837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5/10/2019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8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322" y="0"/>
            <a:ext cx="12189361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8000">
                <a:schemeClr val="bg1">
                  <a:alpha val="15000"/>
                </a:schemeClr>
              </a:gs>
              <a:gs pos="84000">
                <a:schemeClr val="bg2">
                  <a:alpha val="30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08862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2452116" y="1330642"/>
            <a:ext cx="7287768" cy="2387600"/>
          </a:xfrm>
        </p:spPr>
        <p:txBody>
          <a:bodyPr>
            <a:normAutofit/>
          </a:bodyPr>
          <a:lstStyle/>
          <a:p>
            <a:r>
              <a:rPr lang="vi-VN" sz="40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Xây dựng framework tạo dựng mô hình AI cho các ứng dụng theo dõi chuyển động của con người</a:t>
            </a:r>
            <a:endParaRPr lang="en-US" sz="40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524000" y="4333558"/>
            <a:ext cx="9144000" cy="1655762"/>
          </a:xfrm>
        </p:spPr>
        <p:txBody>
          <a:bodyPr/>
          <a:lstStyle/>
          <a:p>
            <a:endParaRPr lang="en-US" dirty="0"/>
          </a:p>
          <a:p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GVHD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Dr. Le Trong Nhan</a:t>
            </a:r>
          </a:p>
          <a:p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Học viên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vi-V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Nguyễn Trương Minh Hoàng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- 2270757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268" y="992573"/>
            <a:ext cx="1014555" cy="92240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421" y="1138591"/>
            <a:ext cx="1907671" cy="67714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09CA3-D415-63D0-A74F-793D2A88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00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Introduction</a:t>
            </a:r>
          </a:p>
          <a:p>
            <a:pPr algn="just"/>
            <a:r>
              <a:rPr lang="en-US" sz="2800" dirty="0"/>
              <a:t>Literature Review</a:t>
            </a:r>
          </a:p>
          <a:p>
            <a:pPr algn="just"/>
            <a:r>
              <a:rPr lang="en-US" sz="2800" dirty="0"/>
              <a:t>Experimental Setup and Results</a:t>
            </a:r>
          </a:p>
          <a:p>
            <a:pPr algn="just"/>
            <a:r>
              <a:rPr lang="en-US" sz="2800" dirty="0"/>
              <a:t>Problem Analysis</a:t>
            </a:r>
          </a:p>
          <a:p>
            <a:pPr algn="just"/>
            <a:r>
              <a:rPr lang="en-US" sz="2800" dirty="0"/>
              <a:t>Methodology</a:t>
            </a:r>
          </a:p>
          <a:p>
            <a:pPr algn="just"/>
            <a:endParaRPr lang="en-US" sz="28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29360D-A415-1D64-6B2C-E35DA4C023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642F8E-522A-C3F8-CB40-0D5410F1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algn="ctr"/>
            <a:fld id="{1880F96C-824F-4C37-99B8-7E149B40C9DC}" type="slidenum">
              <a:rPr lang="en-US" smtClean="0"/>
              <a:pPr algn="ctr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630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357B6-BE59-D76C-B2A8-F8F50245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6023-6A7C-0702-5688-8ACCFB923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Motion Tracking &amp; AI Integration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FA3829-049F-FBAD-9152-C581CC510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Motion Tracking</a:t>
            </a:r>
            <a:r>
              <a:rPr lang="en-US" dirty="0"/>
              <a:t>: Capturing and analyzing movement across industries like healthcare, sports, gaming (VR/AR), and robotics.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Healthcare</a:t>
            </a:r>
            <a:r>
              <a:rPr lang="en-US" dirty="0"/>
              <a:t>: Physical rehab, fall detection, patient monitoring.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Sports</a:t>
            </a:r>
            <a:r>
              <a:rPr lang="en-US" dirty="0"/>
              <a:t>: Performance tracking, injury prevention.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Gaming &amp; VR/AR</a:t>
            </a:r>
            <a:r>
              <a:rPr lang="en-US" dirty="0"/>
              <a:t>: Immersive user experiences.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Robotics</a:t>
            </a:r>
            <a:r>
              <a:rPr lang="en-US" dirty="0"/>
              <a:t>: Navigation and precise control.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AI's Role</a:t>
            </a:r>
            <a:r>
              <a:rPr lang="en-US" dirty="0"/>
              <a:t>: Enhances accuracy, efficiency, and flexibility.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Enables </a:t>
            </a:r>
            <a:r>
              <a:rPr lang="en-US" b="1" dirty="0"/>
              <a:t>gesture recognition</a:t>
            </a:r>
            <a:r>
              <a:rPr lang="en-US" dirty="0"/>
              <a:t>, </a:t>
            </a:r>
            <a:r>
              <a:rPr lang="en-US" b="1" dirty="0"/>
              <a:t>activity classification</a:t>
            </a:r>
            <a:r>
              <a:rPr lang="en-US" dirty="0"/>
              <a:t>, and </a:t>
            </a:r>
            <a:r>
              <a:rPr lang="en-US" b="1" dirty="0"/>
              <a:t>predictive modeling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Challenges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Complex steps: data collection, preprocessing, feature extraction, model training.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Steep learning curve for developers without AI expertise.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Solution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Emergence of </a:t>
            </a:r>
            <a:r>
              <a:rPr lang="en-US" b="1" dirty="0"/>
              <a:t>simplified frameworks</a:t>
            </a:r>
            <a:r>
              <a:rPr lang="en-US" dirty="0"/>
              <a:t> to make motion tracking and AI more accessible.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Democratizing technology</a:t>
            </a:r>
            <a:r>
              <a:rPr lang="en-US" dirty="0"/>
              <a:t> and </a:t>
            </a:r>
            <a:r>
              <a:rPr lang="en-US" b="1" dirty="0"/>
              <a:t>fostering innovation</a:t>
            </a:r>
            <a:r>
              <a:rPr lang="en-US" dirty="0"/>
              <a:t> by reducing barriers for developers and researchers.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65F5-BA2D-F235-FC72-CC05E92A25B6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Introduction</a:t>
            </a:r>
            <a:endParaRPr lang="en-GB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693E97-C390-E3F7-C2E8-4060778D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algn="ctr"/>
            <a:fld id="{1880F96C-824F-4C37-99B8-7E149B40C9DC}" type="slidenum">
              <a:rPr lang="en-US" smtClean="0"/>
              <a:pPr algn="ctr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5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C0FC2-C841-9DD3-2555-CA26ABED3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8E37A-FFA9-C711-8159-54A6C1D2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8ED52C-437A-D111-87A1-D1D505F55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Challenge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AI model creation for motion tracking</a:t>
            </a:r>
            <a:r>
              <a:rPr lang="en-US" dirty="0"/>
              <a:t> remains complex, requiring extensive technical knowledge and resources.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Current tools often have </a:t>
            </a:r>
            <a:r>
              <a:rPr lang="en-US" b="1" dirty="0"/>
              <a:t>steep learning curves</a:t>
            </a:r>
            <a:r>
              <a:rPr lang="en-US" dirty="0"/>
              <a:t> and </a:t>
            </a:r>
            <a:r>
              <a:rPr lang="en-US" b="1" dirty="0"/>
              <a:t>limited functionality</a:t>
            </a:r>
            <a:r>
              <a:rPr lang="en-US" dirty="0"/>
              <a:t>, hindering customization and scalability for diverse use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Issues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Existing solutions are </a:t>
            </a:r>
            <a:r>
              <a:rPr lang="en-US" b="1" dirty="0"/>
              <a:t>application-specific</a:t>
            </a:r>
            <a:r>
              <a:rPr lang="en-US" dirty="0"/>
              <a:t>, lacking flexibility to adapt to new or evolving motion tracking needs.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stifles </a:t>
            </a:r>
            <a:r>
              <a:rPr lang="en-US" b="1" dirty="0"/>
              <a:t>innovation</a:t>
            </a:r>
            <a:r>
              <a:rPr lang="en-US" dirty="0"/>
              <a:t> and limits adoption in transformative areas like healthcare, sports, and robotics.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Need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flexible, intuitive, user-friendly framework</a:t>
            </a:r>
            <a:r>
              <a:rPr lang="en-US" dirty="0"/>
              <a:t> for simplifying AI model creation in motion tracking.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Designed for both </a:t>
            </a:r>
            <a:r>
              <a:rPr lang="en-US" b="1" dirty="0"/>
              <a:t>experts and non-experts</a:t>
            </a:r>
            <a:r>
              <a:rPr lang="en-US" dirty="0"/>
              <a:t>, empowering a wider range of users to leverage motion tracking technologies effectively.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FE71C-5CC2-E94F-89CF-45BAA697471F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A935EE-6805-9F83-3788-BFC3AB13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algn="ctr"/>
            <a:fld id="{1880F96C-824F-4C37-99B8-7E149B40C9DC}" type="slidenum">
              <a:rPr lang="en-US" smtClean="0"/>
              <a:pPr algn="ctr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13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421F9-C691-C898-37E7-94D1FBB13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DCF2A-2077-D820-FF31-6596807E6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Goals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AA6764-C011-3921-7C84-98519DBD63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Study Goals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Investigate challenges in designing AI models for motion tracking.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Analyze existing tools (e.g., Google’s Teachable Machine) to identify gaps.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Propose a </a:t>
            </a:r>
            <a:r>
              <a:rPr lang="en-US" b="1" dirty="0"/>
              <a:t>conceptual design</a:t>
            </a:r>
            <a:r>
              <a:rPr lang="en-US" dirty="0"/>
              <a:t> for a more adaptable framework.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Explore the </a:t>
            </a:r>
            <a:r>
              <a:rPr lang="en-US" b="1" dirty="0"/>
              <a:t>benefits</a:t>
            </a:r>
            <a:r>
              <a:rPr lang="en-US" dirty="0"/>
              <a:t> of simplified, accessible model development.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Scope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Review</a:t>
            </a:r>
            <a:r>
              <a:rPr lang="en-US" dirty="0"/>
              <a:t> of current motion tracking methodologies, technologies, and tools.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Evaluation</a:t>
            </a:r>
            <a:r>
              <a:rPr lang="en-US" dirty="0"/>
              <a:t> of sensor-based data collection and pre-processing for quality assurance.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Design opportunities</a:t>
            </a:r>
            <a:r>
              <a:rPr lang="en-US" dirty="0"/>
              <a:t> for a general-purpose AI model generator tailored for motion tracking.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Exploration</a:t>
            </a:r>
            <a:r>
              <a:rPr lang="en-US" dirty="0"/>
              <a:t> of technical design elements and user interfaces for broad adoption.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Limitations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Focus on </a:t>
            </a:r>
            <a:r>
              <a:rPr lang="en-US" b="1" dirty="0"/>
              <a:t>high-level design</a:t>
            </a:r>
            <a:r>
              <a:rPr lang="en-US" dirty="0"/>
              <a:t> and </a:t>
            </a:r>
            <a:r>
              <a:rPr lang="en-US" b="1" dirty="0"/>
              <a:t>conceptual</a:t>
            </a:r>
            <a:r>
              <a:rPr lang="en-US" dirty="0"/>
              <a:t> aspects, not detailed implementation or coding.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Does not include in-depth analysis of </a:t>
            </a:r>
            <a:r>
              <a:rPr lang="en-US" b="1" dirty="0"/>
              <a:t>domain-specific applications</a:t>
            </a:r>
            <a:r>
              <a:rPr lang="en-US" dirty="0"/>
              <a:t> (e.g., medical or sports).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Limited by </a:t>
            </a:r>
            <a:r>
              <a:rPr lang="en-US" b="1" dirty="0"/>
              <a:t>hardware</a:t>
            </a:r>
            <a:r>
              <a:rPr lang="en-US" dirty="0"/>
              <a:t> and </a:t>
            </a:r>
            <a:r>
              <a:rPr lang="en-US" b="1" dirty="0"/>
              <a:t>computational constraints</a:t>
            </a:r>
            <a:r>
              <a:rPr lang="en-US" dirty="0"/>
              <a:t>, affecting real-world testing and validation.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028B9-293E-D022-184E-AF00613ADD1F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65E18-F0F2-6B1F-5A03-F41CA0908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algn="ctr"/>
            <a:fld id="{1880F96C-824F-4C37-99B8-7E149B40C9DC}" type="slidenum">
              <a:rPr lang="en-US" smtClean="0"/>
              <a:pPr algn="ctr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13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21F86C-4F0C-C912-391D-E409494C5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9D75D-1C1C-57EB-CC1D-21FED2CD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 Tracking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5E44A-770C-6F5A-9993-1C59CB83A250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Literature Review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33901-8234-0452-07E5-6C3EF1DE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algn="ctr"/>
            <a:fld id="{1880F96C-824F-4C37-99B8-7E149B40C9DC}" type="slidenum">
              <a:rPr lang="en-US" smtClean="0"/>
              <a:pPr algn="ctr"/>
              <a:t>6</a:t>
            </a:fld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D3A62B4-3BBD-C0A2-B4E0-7A0F433F8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529807"/>
              </p:ext>
            </p:extLst>
          </p:nvPr>
        </p:nvGraphicFramePr>
        <p:xfrm>
          <a:off x="1867408" y="1938844"/>
          <a:ext cx="8127999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5161356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6189590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791725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Application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Benefits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231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Healthcare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Gait analysis, fall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Accurate monitoring, personalized treatment plans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846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Performance tracking, injury 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Optimized training, reduced injury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863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Gaming/VR/AR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Immersive VR/AR experiences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Enhanced user interaction, lifelike simulations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7626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Robotics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 planning, human-robot 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Autonomous navigation, precise task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678879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2497BD82-7CDD-8FF7-47EF-EF19A2BEC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96" y="4860025"/>
            <a:ext cx="11798808" cy="5987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6ABC721-9ABF-7F4B-82CA-EC552110DE04}"/>
              </a:ext>
            </a:extLst>
          </p:cNvPr>
          <p:cNvSpPr txBox="1"/>
          <p:nvPr/>
        </p:nvSpPr>
        <p:spPr>
          <a:xfrm>
            <a:off x="2048256" y="5522976"/>
            <a:ext cx="8127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2.1: Motion Detection Process General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D6C7C-F6DD-358A-C8A8-77174F1B9EEB}"/>
              </a:ext>
            </a:extLst>
          </p:cNvPr>
          <p:cNvSpPr txBox="1"/>
          <p:nvPr/>
        </p:nvSpPr>
        <p:spPr>
          <a:xfrm>
            <a:off x="1867409" y="1545336"/>
            <a:ext cx="8127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Table 2.1: Applications of Motion Tracking Across Domains</a:t>
            </a:r>
          </a:p>
        </p:txBody>
      </p:sp>
    </p:spTree>
    <p:extLst>
      <p:ext uri="{BB962C8B-B14F-4D97-AF65-F5344CB8AC3E}">
        <p14:creationId xmlns:p14="http://schemas.microsoft.com/office/powerpoint/2010/main" val="250401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8A3B5-4849-E0B4-BDF7-45F2FCE8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8D9C7-BBC9-3EFA-E049-F7BA0549F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Models Generation Techniques</a:t>
            </a:r>
          </a:p>
        </p:txBody>
      </p:sp>
      <p:pic>
        <p:nvPicPr>
          <p:cNvPr id="9" name="Content Placeholder 8" descr="A screen shot of a machine learning process&#10;&#10;Description automatically generated">
            <a:extLst>
              <a:ext uri="{FF2B5EF4-FFF2-40B4-BE49-F238E27FC236}">
                <a16:creationId xmlns:a16="http://schemas.microsoft.com/office/drawing/2014/main" id="{B44E2F4E-3593-FB10-75E2-985B73E9E6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994" y="1825625"/>
            <a:ext cx="8312011" cy="435133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19931-B2E7-B69F-2352-B38CB6E5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697C7-BA4D-4209-34A0-0F7EA173BE89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Literature Review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0E2C4A-6EFF-7D9A-AE8D-AA77C02A682F}"/>
              </a:ext>
            </a:extLst>
          </p:cNvPr>
          <p:cNvSpPr txBox="1"/>
          <p:nvPr/>
        </p:nvSpPr>
        <p:spPr>
          <a:xfrm>
            <a:off x="1939994" y="6176963"/>
            <a:ext cx="8312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2.2: Machine learning process</a:t>
            </a:r>
          </a:p>
        </p:txBody>
      </p:sp>
    </p:spTree>
    <p:extLst>
      <p:ext uri="{BB962C8B-B14F-4D97-AF65-F5344CB8AC3E}">
        <p14:creationId xmlns:p14="http://schemas.microsoft.com/office/powerpoint/2010/main" val="3433348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64708-EB11-89F8-D4A1-0E9641025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38C598-0C20-2959-6004-FEDE0AEE41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Traditional Machine Learning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Approach</a:t>
            </a:r>
            <a:r>
              <a:rPr lang="en-US" dirty="0"/>
              <a:t>: Handcrafted features (mean, variance, frequency-domain) used with classifiers (SVM, Decision Trees, </a:t>
            </a:r>
            <a:r>
              <a:rPr lang="en-US" dirty="0" err="1"/>
              <a:t>kNN</a:t>
            </a:r>
            <a:r>
              <a:rPr lang="en-US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Challenges</a:t>
            </a:r>
            <a:r>
              <a:rPr lang="en-US" dirty="0"/>
              <a:t>: Requires domain expertise and may struggle with generalization.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Deep Learning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Approaches</a:t>
            </a:r>
            <a:r>
              <a:rPr lang="en-US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CNNs</a:t>
            </a:r>
            <a:r>
              <a:rPr lang="en-US" dirty="0"/>
              <a:t>: Process spatial data like images or time-series.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RNNs/LSTMs</a:t>
            </a:r>
            <a:r>
              <a:rPr lang="en-US" dirty="0"/>
              <a:t>: Handle sequential, temporal data.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b="1" dirty="0"/>
              <a:t>Transformers</a:t>
            </a:r>
            <a:r>
              <a:rPr lang="en-US" dirty="0"/>
              <a:t>: Used for activity recognition and sequence modeling.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Benefits</a:t>
            </a:r>
            <a:r>
              <a:rPr lang="en-US" dirty="0"/>
              <a:t>: Automates feature extraction, higher accuracy, but requires large datasets and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Hybrid Approaches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Combines traditional feature extraction with neural networks for improved interpretability and efficiency.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50E41-9792-4F9C-5083-4F12EBFF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77251-EF51-2203-B223-3B59E876383A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Literature Review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2D35C9F-4B1A-F176-96C6-FFF98A916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AI Models Generation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166322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59B69-5BDF-34C3-B67C-8D90036B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6FBE0385-AE9C-7E8C-48E5-568C48A1922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5796289"/>
              </p:ext>
            </p:extLst>
          </p:nvPr>
        </p:nvGraphicFramePr>
        <p:xfrm>
          <a:off x="1956816" y="4469163"/>
          <a:ext cx="8278368" cy="1188720"/>
        </p:xfrm>
        <a:graphic>
          <a:graphicData uri="http://schemas.openxmlformats.org/drawingml/2006/table">
            <a:tbl>
              <a:tblPr/>
              <a:tblGrid>
                <a:gridCol w="1895856">
                  <a:extLst>
                    <a:ext uri="{9D8B030D-6E8A-4147-A177-3AD203B41FA5}">
                      <a16:colId xmlns:a16="http://schemas.microsoft.com/office/drawing/2014/main" val="364233465"/>
                    </a:ext>
                  </a:extLst>
                </a:gridCol>
                <a:gridCol w="3623056">
                  <a:extLst>
                    <a:ext uri="{9D8B030D-6E8A-4147-A177-3AD203B41FA5}">
                      <a16:colId xmlns:a16="http://schemas.microsoft.com/office/drawing/2014/main" val="1941549207"/>
                    </a:ext>
                  </a:extLst>
                </a:gridCol>
                <a:gridCol w="2759456">
                  <a:extLst>
                    <a:ext uri="{9D8B030D-6E8A-4147-A177-3AD203B41FA5}">
                      <a16:colId xmlns:a16="http://schemas.microsoft.com/office/drawing/2014/main" val="1607145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Framework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Key Features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Best Suited For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464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Edge Impulse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AutoML, TinyML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Resource-constrained devices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258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Google </a:t>
                      </a:r>
                      <a:r>
                        <a:rPr lang="en-US" b="1" dirty="0" err="1"/>
                        <a:t>MediaPipe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Real-time tracking, multimodal pipelines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VR/AR, interactive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16319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TensorFlow/PyTorch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Extensive libraries, flexibility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 AI model 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81554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0DCD3-1582-D678-9C1F-A4D0CE12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04DDCB-1030-0218-5510-C275F61C72AC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6BA2C09-9EA2-A49D-9111-1B999A838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AI Models Generation Techniques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7C575F0E-976E-73A0-2A9C-B4DC7635C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12297"/>
            <a:ext cx="925464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Data Requirements &amp;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Steps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Noise Reduction</a:t>
            </a:r>
            <a:r>
              <a:rPr lang="en-US" dirty="0"/>
              <a:t>: Filter out sensor drift and artifacts.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Normalization</a:t>
            </a:r>
            <a:r>
              <a:rPr lang="en-US" dirty="0"/>
              <a:t>: Ensure consistent scaling.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Segmentation &amp; Labeling</a:t>
            </a:r>
            <a:r>
              <a:rPr lang="en-US" dirty="0"/>
              <a:t>: Divide data into meaningful segments for supervised learning.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8B40AE-C9E2-C1FA-AF9E-4FBB5E3EA599}"/>
              </a:ext>
            </a:extLst>
          </p:cNvPr>
          <p:cNvSpPr txBox="1"/>
          <p:nvPr/>
        </p:nvSpPr>
        <p:spPr>
          <a:xfrm>
            <a:off x="1956816" y="4031554"/>
            <a:ext cx="8278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Table 2.2: Tools and Frameworks for Model Generation</a:t>
            </a:r>
          </a:p>
        </p:txBody>
      </p:sp>
    </p:spTree>
    <p:extLst>
      <p:ext uri="{BB962C8B-B14F-4D97-AF65-F5344CB8AC3E}">
        <p14:creationId xmlns:p14="http://schemas.microsoft.com/office/powerpoint/2010/main" val="1604337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CDFB0-7FDA-76B5-F191-3486CB9E2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45F33C-BE30-B048-1594-43FA71570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Improved Accuracy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precision in detecting and classifying motion, crucial for healthcare diagnostics and sports performance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Real-Time Feedback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Instant feedback for applications like rehabilitation, sports training, and interactive VR/AR.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Scalability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Deployment across various platforms (mobile, robots) for a wide range of use cases.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Personalization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Tailored motion tracking for individual users (e.g., fitness tracking, rehabilitation).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Cost-Effectiveness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Automation reduces reliance on manual intervention, saving costs in manufacturing and elder care.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Wider Accessibility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Lightweight models for edge devices enable motion tracking in resource-constrained environments.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Data-Driven Insights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AI-powered analytics support decision-making in sports, healthcare, and industrial operations.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DB0C9-B7ED-B41C-EED0-537C42422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D3C45C-44DA-CF79-86B1-AE962316B5E6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691CDC3-90C7-AF5A-A36B-1F39E2D5F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Benefits of Motion Tracking AI Models</a:t>
            </a:r>
          </a:p>
        </p:txBody>
      </p:sp>
    </p:spTree>
    <p:extLst>
      <p:ext uri="{BB962C8B-B14F-4D97-AF65-F5344CB8AC3E}">
        <p14:creationId xmlns:p14="http://schemas.microsoft.com/office/powerpoint/2010/main" val="1485224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EBB67-3DED-6073-42C4-16F31E170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554E06-22B4-F0C2-5252-0330EE6B2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Data Collection and Quality</a:t>
            </a:r>
            <a:endParaRPr lang="en-US" dirty="0"/>
          </a:p>
          <a:p>
            <a:pPr marL="742950" lvl="1" indent="-285750"/>
            <a:r>
              <a:rPr lang="en-US" b="1" dirty="0"/>
              <a:t>Sensor Noise</a:t>
            </a:r>
            <a:r>
              <a:rPr lang="en-US" dirty="0"/>
              <a:t>: Environmental and hardware factors impact data quality.</a:t>
            </a:r>
          </a:p>
          <a:p>
            <a:pPr marL="742950" lvl="1" indent="-285750"/>
            <a:r>
              <a:rPr lang="en-US" b="1" dirty="0"/>
              <a:t>Dataset Diversity</a:t>
            </a:r>
            <a:r>
              <a:rPr lang="en-US" dirty="0"/>
              <a:t>: Limited variety in datasets affects generalization.</a:t>
            </a:r>
          </a:p>
          <a:p>
            <a:pPr marL="742950" lvl="1" indent="-285750"/>
            <a:r>
              <a:rPr lang="en-US" b="1" dirty="0"/>
              <a:t>Labeling Complexity</a:t>
            </a:r>
            <a:r>
              <a:rPr lang="en-US" dirty="0"/>
              <a:t>: Requires time and expertise for accurate labeling.</a:t>
            </a:r>
          </a:p>
          <a:p>
            <a:r>
              <a:rPr lang="en-US" b="1" dirty="0"/>
              <a:t>Computational Constraints</a:t>
            </a:r>
            <a:endParaRPr lang="en-US" dirty="0"/>
          </a:p>
          <a:p>
            <a:pPr marL="742950" lvl="1" indent="-285750"/>
            <a:r>
              <a:rPr lang="en-US" b="1" dirty="0"/>
              <a:t>Edge Deployment</a:t>
            </a:r>
            <a:r>
              <a:rPr lang="en-US" dirty="0"/>
              <a:t>: Limited resources on edge devices require optimization.</a:t>
            </a:r>
          </a:p>
          <a:p>
            <a:pPr marL="742950" lvl="1" indent="-285750"/>
            <a:r>
              <a:rPr lang="en-US" b="1" dirty="0"/>
              <a:t>Real-Time Processing</a:t>
            </a:r>
            <a:r>
              <a:rPr lang="en-US" dirty="0"/>
              <a:t>: Balancing speed and model complexity for low-latency applications.</a:t>
            </a:r>
          </a:p>
          <a:p>
            <a:r>
              <a:rPr lang="en-US" b="1" dirty="0"/>
              <a:t>Generalizability and Adaptability</a:t>
            </a:r>
            <a:endParaRPr lang="en-US" dirty="0"/>
          </a:p>
          <a:p>
            <a:pPr marL="742950" lvl="1" indent="-285750"/>
            <a:r>
              <a:rPr lang="en-US" b="1" dirty="0"/>
              <a:t>Domain-Specific Customization</a:t>
            </a:r>
            <a:r>
              <a:rPr lang="en-US" dirty="0"/>
              <a:t>: Models need to adapt across diverse use cases (e.g., healthcare vs. gaming).</a:t>
            </a:r>
          </a:p>
          <a:p>
            <a:pPr marL="742950" lvl="1" indent="-285750"/>
            <a:r>
              <a:rPr lang="en-US" b="1" dirty="0"/>
              <a:t>Cross-Device Consistency</a:t>
            </a:r>
            <a:r>
              <a:rPr lang="en-US" dirty="0"/>
              <a:t>: Variations in sensors and devices affect consistency.</a:t>
            </a:r>
          </a:p>
          <a:p>
            <a:r>
              <a:rPr lang="en-US" b="1" dirty="0"/>
              <a:t>Data Privacy and Security</a:t>
            </a:r>
            <a:endParaRPr lang="en-US" dirty="0"/>
          </a:p>
          <a:p>
            <a:pPr marL="742950" lvl="1" indent="-285750"/>
            <a:r>
              <a:rPr lang="en-US" b="1" dirty="0"/>
              <a:t>Sensitive Data</a:t>
            </a:r>
            <a:r>
              <a:rPr lang="en-US" dirty="0"/>
              <a:t>: Ensuring privacy for personal movement data.</a:t>
            </a:r>
          </a:p>
          <a:p>
            <a:pPr marL="742950" lvl="1" indent="-285750"/>
            <a:r>
              <a:rPr lang="en-US" b="1" dirty="0"/>
              <a:t>Federated Learning</a:t>
            </a:r>
            <a:r>
              <a:rPr lang="en-US" dirty="0"/>
              <a:t>: Local model training to protect privacy, but with potential performance trade-offs.</a:t>
            </a:r>
          </a:p>
          <a:p>
            <a:r>
              <a:rPr lang="en-US" b="1" dirty="0"/>
              <a:t>Integration Challenges</a:t>
            </a:r>
            <a:endParaRPr lang="en-US" dirty="0"/>
          </a:p>
          <a:p>
            <a:pPr marL="742950" lvl="1" indent="-285750"/>
            <a:r>
              <a:rPr lang="en-US" b="1" dirty="0"/>
              <a:t>Hardware-Software Compatibility</a:t>
            </a:r>
            <a:r>
              <a:rPr lang="en-US" dirty="0"/>
              <a:t>: Seamless integration needed for optimal performance.</a:t>
            </a:r>
          </a:p>
          <a:p>
            <a:pPr marL="742950" lvl="1" indent="-285750"/>
            <a:r>
              <a:rPr lang="en-US" b="1" dirty="0"/>
              <a:t>Scalability</a:t>
            </a:r>
            <a:r>
              <a:rPr lang="en-US" dirty="0"/>
              <a:t>: Difficulties in scaling across diverse ecosystems and applications.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11C1D-585F-11F3-DD6C-87F61043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A36EB-83D3-43FF-9C42-B15F6E7B5D56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FA29AD1-C3BD-F1D4-8BAF-C904778FA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Challenges in Motion Tracking AI Models</a:t>
            </a:r>
          </a:p>
        </p:txBody>
      </p:sp>
    </p:spTree>
    <p:extLst>
      <p:ext uri="{BB962C8B-B14F-4D97-AF65-F5344CB8AC3E}">
        <p14:creationId xmlns:p14="http://schemas.microsoft.com/office/powerpoint/2010/main" val="4129554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9EEA7-4288-2628-B987-B70A07E20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ED91C9E2-C17A-94EF-1993-1265F4E8BFC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49570652"/>
              </p:ext>
            </p:extLst>
          </p:nvPr>
        </p:nvGraphicFramePr>
        <p:xfrm>
          <a:off x="82296" y="1356827"/>
          <a:ext cx="11405936" cy="4922686"/>
        </p:xfrm>
        <a:graphic>
          <a:graphicData uri="http://schemas.openxmlformats.org/drawingml/2006/table">
            <a:tbl>
              <a:tblPr/>
              <a:tblGrid>
                <a:gridCol w="2139696">
                  <a:extLst>
                    <a:ext uri="{9D8B030D-6E8A-4147-A177-3AD203B41FA5}">
                      <a16:colId xmlns:a16="http://schemas.microsoft.com/office/drawing/2014/main" val="283398874"/>
                    </a:ext>
                  </a:extLst>
                </a:gridCol>
                <a:gridCol w="3563272">
                  <a:extLst>
                    <a:ext uri="{9D8B030D-6E8A-4147-A177-3AD203B41FA5}">
                      <a16:colId xmlns:a16="http://schemas.microsoft.com/office/drawing/2014/main" val="3431196666"/>
                    </a:ext>
                  </a:extLst>
                </a:gridCol>
                <a:gridCol w="2851484">
                  <a:extLst>
                    <a:ext uri="{9D8B030D-6E8A-4147-A177-3AD203B41FA5}">
                      <a16:colId xmlns:a16="http://schemas.microsoft.com/office/drawing/2014/main" val="4203823104"/>
                    </a:ext>
                  </a:extLst>
                </a:gridCol>
                <a:gridCol w="2851484">
                  <a:extLst>
                    <a:ext uri="{9D8B030D-6E8A-4147-A177-3AD203B41FA5}">
                      <a16:colId xmlns:a16="http://schemas.microsoft.com/office/drawing/2014/main" val="1267950550"/>
                    </a:ext>
                  </a:extLst>
                </a:gridCol>
              </a:tblGrid>
              <a:tr h="228094">
                <a:tc>
                  <a:txBody>
                    <a:bodyPr/>
                    <a:lstStyle/>
                    <a:p>
                      <a:r>
                        <a:rPr lang="en-US" sz="1400" b="1"/>
                        <a:t>Challenge</a:t>
                      </a:r>
                      <a:endParaRPr lang="en-US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Description</a:t>
                      </a:r>
                      <a:endParaRPr lang="en-US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Impact</a:t>
                      </a:r>
                      <a:endParaRPr lang="en-US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Potential Solutions</a:t>
                      </a:r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367250"/>
                  </a:ext>
                </a:extLst>
              </a:tr>
              <a:tr h="543917">
                <a:tc rowSpan="2">
                  <a:txBody>
                    <a:bodyPr/>
                    <a:lstStyle/>
                    <a:p>
                      <a:r>
                        <a:rPr lang="en-US" sz="1400" b="1" dirty="0"/>
                        <a:t>Hardware Constraints</a:t>
                      </a:r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Low-power devices with limited processing and storage capabilities.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AI models need to be optimized for efficiency on edge devices.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Model optimization for edge devices (e.g., pruning, quantization).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731853"/>
                  </a:ext>
                </a:extLst>
              </a:tr>
              <a:tr h="543917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Deep learning models may not run effectively on microcontrollers.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Trade-offs between model accuracy and computational efficiency.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Use of lightweight AI models.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381442"/>
                  </a:ext>
                </a:extLst>
              </a:tr>
              <a:tr h="701829">
                <a:tc rowSpan="2">
                  <a:txBody>
                    <a:bodyPr/>
                    <a:lstStyle/>
                    <a:p>
                      <a:r>
                        <a:rPr lang="en-US" sz="1400" b="1" dirty="0"/>
                        <a:t>Data Quality &amp; Variability</a:t>
                      </a:r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Sensor data can be noisy or inconsistent, influenced by environmental factors (e.g., temperature).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Requires robust preprocessing and models capable of handling noisy data.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Advanced preprocessing techniques to reduce noise and artifacts.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739371"/>
                  </a:ext>
                </a:extLst>
              </a:tr>
              <a:tr h="543917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Variability in data can lead to poor model performance.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Inaccurate data may affect motion tracking systems, such as in wearables.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Enhanced data collection and filtering methods.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62682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400" b="1"/>
                        <a:t>Scalability of AI Models</a:t>
                      </a:r>
                      <a:endParaRPr lang="en-US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Large-scale models require extensive resources and large datasets.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Limits access for smaller organizations or independent researchers.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Pre-trained models, transfer learning, and model compression.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878213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US" sz="1400" b="1"/>
                        <a:t>Latency in Real-Time Apps</a:t>
                      </a:r>
                      <a:endParaRPr lang="en-US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Real-time applications (e.g., VR/AR, robotics, gaming) require low-latency processing.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Can lead to lag or poor user experience.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Optimization techniques like model pruning, quantization, and distillation.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71061"/>
                  </a:ext>
                </a:extLst>
              </a:tr>
              <a:tr h="701829">
                <a:tc>
                  <a:txBody>
                    <a:bodyPr/>
                    <a:lstStyle/>
                    <a:p>
                      <a:r>
                        <a:rPr lang="en-US" sz="1400" b="1"/>
                        <a:t>Ethical &amp; Privacy Concerns</a:t>
                      </a:r>
                      <a:endParaRPr lang="en-US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Collecting motion data raises privacy issues (e.g., sensitive health data or identifiable movement).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User trust concerns and regulatory challenges regarding data security.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 Federated learning and on-device processing to preserve privacy.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7711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DC7E0-59B8-5975-202C-7184E6FA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17C5BD-E916-6939-F520-7FBC1A60978D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320ACED-1F40-2937-1648-CD5A18577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Challenges in Motion Tracking &amp; AI Integration</a:t>
            </a:r>
          </a:p>
        </p:txBody>
      </p:sp>
    </p:spTree>
    <p:extLst>
      <p:ext uri="{BB962C8B-B14F-4D97-AF65-F5344CB8AC3E}">
        <p14:creationId xmlns:p14="http://schemas.microsoft.com/office/powerpoint/2010/main" val="2510571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DAA5ED-DDA5-7D19-510B-5E9D95786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7A9D15C3-EF44-0E32-1503-CAA68EB89BA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9516171"/>
              </p:ext>
            </p:extLst>
          </p:nvPr>
        </p:nvGraphicFramePr>
        <p:xfrm>
          <a:off x="454152" y="1519968"/>
          <a:ext cx="11109960" cy="4591472"/>
        </p:xfrm>
        <a:graphic>
          <a:graphicData uri="http://schemas.openxmlformats.org/drawingml/2006/table">
            <a:tbl>
              <a:tblPr/>
              <a:tblGrid>
                <a:gridCol w="2087064">
                  <a:extLst>
                    <a:ext uri="{9D8B030D-6E8A-4147-A177-3AD203B41FA5}">
                      <a16:colId xmlns:a16="http://schemas.microsoft.com/office/drawing/2014/main" val="1491400175"/>
                    </a:ext>
                  </a:extLst>
                </a:gridCol>
                <a:gridCol w="3888320">
                  <a:extLst>
                    <a:ext uri="{9D8B030D-6E8A-4147-A177-3AD203B41FA5}">
                      <a16:colId xmlns:a16="http://schemas.microsoft.com/office/drawing/2014/main" val="1080456747"/>
                    </a:ext>
                  </a:extLst>
                </a:gridCol>
                <a:gridCol w="5134576">
                  <a:extLst>
                    <a:ext uri="{9D8B030D-6E8A-4147-A177-3AD203B41FA5}">
                      <a16:colId xmlns:a16="http://schemas.microsoft.com/office/drawing/2014/main" val="480200518"/>
                    </a:ext>
                  </a:extLst>
                </a:gridCol>
              </a:tblGrid>
              <a:tr h="211863">
                <a:tc>
                  <a:txBody>
                    <a:bodyPr/>
                    <a:lstStyle/>
                    <a:p>
                      <a:r>
                        <a:rPr lang="en-US" sz="1400" b="1"/>
                        <a:t>Trend</a:t>
                      </a:r>
                      <a:endParaRPr lang="en-US" sz="1400"/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Description</a:t>
                      </a:r>
                      <a:endParaRPr lang="en-US" sz="1400"/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Examples and Impact</a:t>
                      </a:r>
                      <a:endParaRPr lang="en-US" sz="1400"/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583382"/>
                  </a:ext>
                </a:extLst>
              </a:tr>
              <a:tr h="798560">
                <a:tc>
                  <a:txBody>
                    <a:bodyPr/>
                    <a:lstStyle/>
                    <a:p>
                      <a:r>
                        <a:rPr lang="en-US" sz="1400" b="1"/>
                        <a:t>Wearable Motion Tracking</a:t>
                      </a:r>
                      <a:endParaRPr lang="en-US" sz="1400"/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Wearable devices equipped with IMUs, GPS, and sensors for real-time analysis and actionable insights.</a:t>
                      </a:r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 Smart fitness bands (e.g., Fitbit, Apple Watch) use AI for accurate fall detection, step counting, heart rate, and sleep.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Impact: Improved accessibility and affordability in consumer tech.</a:t>
                      </a:r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551667"/>
                  </a:ext>
                </a:extLst>
              </a:tr>
              <a:tr h="798560">
                <a:tc>
                  <a:txBody>
                    <a:bodyPr/>
                    <a:lstStyle/>
                    <a:p>
                      <a:r>
                        <a:rPr lang="en-US" sz="1400" b="1"/>
                        <a:t>AI-Driven Real-Time Tracking</a:t>
                      </a:r>
                      <a:endParaRPr lang="en-US" sz="1400"/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Real-time motion tracking powered by AI for fast, accurate motion prediction with low-latency requirements.</a:t>
                      </a:r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Google MediaPipe for hand tracking </a:t>
                      </a:r>
                      <a:br>
                        <a:rPr lang="en-US" sz="1400"/>
                      </a:br>
                      <a:r>
                        <a:rPr lang="en-US" sz="1400"/>
                        <a:t>- Applications in VR/AR, gaming, and robotics. </a:t>
                      </a:r>
                      <a:br>
                        <a:rPr lang="en-US" sz="1400"/>
                      </a:br>
                      <a:r>
                        <a:rPr lang="en-US" sz="1400"/>
                        <a:t>- Impact: Enhanced user experiences with immersive environments and autonomous systems.</a:t>
                      </a:r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6487544"/>
                  </a:ext>
                </a:extLst>
              </a:tr>
              <a:tr h="651886">
                <a:tc>
                  <a:txBody>
                    <a:bodyPr/>
                    <a:lstStyle/>
                    <a:p>
                      <a:r>
                        <a:rPr lang="en-US" sz="1400" b="1"/>
                        <a:t>Multimodal Sensor Fusion</a:t>
                      </a:r>
                      <a:endParaRPr lang="en-US" sz="1400"/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Combining multiple sensor data sources (IMUs, cameras, LiDAR) for enhanced motion tracking accuracy and robustness.</a:t>
                      </a:r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 Autonomous vehicles use sensor fusion for precise navigation.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Impact: Improved accuracy and adaptability in dynamic environments.</a:t>
                      </a:r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47754"/>
                  </a:ext>
                </a:extLst>
              </a:tr>
              <a:tr h="945234">
                <a:tc>
                  <a:txBody>
                    <a:bodyPr/>
                    <a:lstStyle/>
                    <a:p>
                      <a:r>
                        <a:rPr lang="en-US" sz="1400" b="1"/>
                        <a:t>Edge AI &amp; Federated Learning</a:t>
                      </a:r>
                      <a:endParaRPr lang="en-US" sz="1400"/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AI models deployed on devices (Edge AI) for real-time processing and federated learning for privacy-preserving training.</a:t>
                      </a:r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- Smart glasses for gesture recognition powered by Edge AI. </a:t>
                      </a:r>
                      <a:br>
                        <a:rPr lang="en-US" sz="1400"/>
                      </a:br>
                      <a:r>
                        <a:rPr lang="en-US" sz="1400"/>
                        <a:t>- Smartphones using federated learning for activity recognition. </a:t>
                      </a:r>
                      <a:br>
                        <a:rPr lang="en-US" sz="1400"/>
                      </a:br>
                      <a:r>
                        <a:rPr lang="en-US" sz="1400"/>
                        <a:t>- Impact: Reduced latency, improved privacy, and scalability.</a:t>
                      </a:r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9216721"/>
                  </a:ext>
                </a:extLst>
              </a:tr>
              <a:tr h="945234">
                <a:tc>
                  <a:txBody>
                    <a:bodyPr/>
                    <a:lstStyle/>
                    <a:p>
                      <a:r>
                        <a:rPr lang="en-US" sz="1400" b="1"/>
                        <a:t>Emerging Domains and Applications</a:t>
                      </a:r>
                      <a:endParaRPr lang="en-US" sz="1400"/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Motion tracking with AI expanding into new and innovative domains.</a:t>
                      </a:r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 Smart cities monitoring traffic and pedestrian movements.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Healthcare innovations using motion data for predictive diagnostics. 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- AI-assisted motion capture in cinema and gaming.</a:t>
                      </a:r>
                    </a:p>
                  </a:txBody>
                  <a:tcPr marL="65189" marR="65189" marT="32594" marB="325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90810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FE138-6192-A5F9-42A0-79DD9198F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83402F-E890-8ECA-0379-FAA53B027119}"/>
              </a:ext>
            </a:extLst>
          </p:cNvPr>
          <p:cNvSpPr txBox="1"/>
          <p:nvPr/>
        </p:nvSpPr>
        <p:spPr>
          <a:xfrm>
            <a:off x="838200" y="230192"/>
            <a:ext cx="3108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94C8885-5FED-B8D7-20F6-BD0C8054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Current Trends in Motion Tracking and AI Integration</a:t>
            </a:r>
          </a:p>
        </p:txBody>
      </p:sp>
    </p:spTree>
    <p:extLst>
      <p:ext uri="{BB962C8B-B14F-4D97-AF65-F5344CB8AC3E}">
        <p14:creationId xmlns:p14="http://schemas.microsoft.com/office/powerpoint/2010/main" val="2697494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97DD9-CB96-BA53-DCA3-FEB35647B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D4BBFC-ED2F-B903-F9DD-31F9433D0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Seeed</a:t>
            </a:r>
            <a:r>
              <a:rPr lang="en-US" dirty="0"/>
              <a:t> XIAO nRF52840 Sense</a:t>
            </a:r>
            <a:endParaRPr lang="en-US" b="1" dirty="0"/>
          </a:p>
          <a:p>
            <a:r>
              <a:rPr lang="en-US" b="1" dirty="0"/>
              <a:t>Features:</a:t>
            </a:r>
          </a:p>
          <a:p>
            <a:pPr lvl="1"/>
            <a:r>
              <a:rPr lang="en-US" b="1" dirty="0"/>
              <a:t>Wireless Capabilities:</a:t>
            </a:r>
            <a:r>
              <a:rPr lang="en-US" dirty="0"/>
              <a:t> Bluetooth 5.0 with onboard antenna</a:t>
            </a:r>
          </a:p>
          <a:p>
            <a:pPr lvl="1"/>
            <a:r>
              <a:rPr lang="en-US" b="1" dirty="0"/>
              <a:t>Powerful Processor:</a:t>
            </a:r>
            <a:r>
              <a:rPr lang="en-US" dirty="0"/>
              <a:t> Nordic nRF52840, ARM® Cortex®-M4 32-bit processor with Floating Point Unit (FPU), running at 64 MHz</a:t>
            </a:r>
          </a:p>
          <a:p>
            <a:pPr lvl="1"/>
            <a:r>
              <a:rPr lang="en-US" b="1" dirty="0"/>
              <a:t>Ultra-Low Power Consumption:</a:t>
            </a:r>
            <a:r>
              <a:rPr lang="en-US" dirty="0"/>
              <a:t> Standby power consumption under 5</a:t>
            </a:r>
            <a:r>
              <a:rPr lang="el-GR" dirty="0"/>
              <a:t>μ</a:t>
            </a:r>
            <a:r>
              <a:rPr lang="en-US" dirty="0"/>
              <a:t>A</a:t>
            </a:r>
          </a:p>
          <a:p>
            <a:pPr lvl="1"/>
            <a:r>
              <a:rPr lang="en-US" b="1" dirty="0"/>
              <a:t>Battery Charging Support:</a:t>
            </a:r>
            <a:r>
              <a:rPr lang="en-US" dirty="0"/>
              <a:t> Lithium battery charge and discharge management</a:t>
            </a:r>
          </a:p>
          <a:p>
            <a:pPr lvl="1"/>
            <a:r>
              <a:rPr lang="en-US" b="1" dirty="0"/>
              <a:t>Storage:</a:t>
            </a:r>
            <a:r>
              <a:rPr lang="en-US" dirty="0"/>
              <a:t> Onboard 2 MB flash memory</a:t>
            </a:r>
          </a:p>
          <a:p>
            <a:pPr lvl="1"/>
            <a:r>
              <a:rPr lang="en-US" b="1" dirty="0"/>
              <a:t>Onboard Sensors:</a:t>
            </a:r>
            <a:endParaRPr lang="en-US" dirty="0"/>
          </a:p>
          <a:p>
            <a:pPr marL="1085850" lvl="2" indent="-285750"/>
            <a:r>
              <a:rPr lang="en-US" b="1" dirty="0"/>
              <a:t>Microphone:</a:t>
            </a:r>
            <a:r>
              <a:rPr lang="en-US" dirty="0"/>
              <a:t> PDM microphone for audio input (only in XIAO nRF52840 Sense version)</a:t>
            </a:r>
          </a:p>
          <a:p>
            <a:pPr marL="1085850" lvl="2" indent="-285750"/>
            <a:r>
              <a:rPr lang="en-US" b="1" dirty="0"/>
              <a:t>IMU:</a:t>
            </a:r>
            <a:r>
              <a:rPr lang="en-US" dirty="0"/>
              <a:t> 6-axis LSM6DS3TR-C Inertial Measurement Unit (IMU) for motion tracking (only in XIAO nRF52840 Sense version)</a:t>
            </a:r>
          </a:p>
          <a:p>
            <a:pPr lvl="1"/>
            <a:r>
              <a:rPr lang="en-US" b="1" dirty="0"/>
              <a:t>Compact Size:</a:t>
            </a:r>
            <a:r>
              <a:rPr lang="en-US" dirty="0"/>
              <a:t> 21 x 17.8 mm, suitable for wearable devices</a:t>
            </a:r>
          </a:p>
          <a:p>
            <a:pPr lvl="1"/>
            <a:r>
              <a:rPr lang="en-US" b="1" dirty="0"/>
              <a:t>Rich Interfaces:</a:t>
            </a:r>
            <a:endParaRPr lang="en-US" dirty="0"/>
          </a:p>
          <a:p>
            <a:pPr marL="1085850" lvl="2" indent="-285750"/>
            <a:r>
              <a:rPr lang="en-US" dirty="0"/>
              <a:t>1x UART, 1x I2C, 1x SPI, 1x NFC, 1x SWD, 11x GPIO (PWM), 6x ADC</a:t>
            </a:r>
          </a:p>
          <a:p>
            <a:pPr lvl="1"/>
            <a:r>
              <a:rPr lang="en-US" b="1" dirty="0"/>
              <a:t>Component Design:</a:t>
            </a:r>
            <a:r>
              <a:rPr lang="en-US" dirty="0"/>
              <a:t> Single-sided, surface-mounting components for a sleek, space-efficient design.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BFB7D-D80F-16CB-DEEB-CF62B6FA7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5C199-797B-05C0-B61E-120A645A94A9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/>
              <a:t>Experimental Setup and Results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9C80A5-4C0F-DE58-0E00-2E15D284D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Hardware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0974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8BD20B-3BC4-156B-A2C5-915982703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75E01-E59D-2E72-BBEC-894F63B30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20708-7620-BB25-8CFE-C227BBC84502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Experimental Setup and Results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66C0877-AADE-E441-B50E-98C11EC14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Hardware Configuration</a:t>
            </a:r>
          </a:p>
        </p:txBody>
      </p:sp>
      <p:pic>
        <p:nvPicPr>
          <p:cNvPr id="9" name="Picture 8" descr="A close-up of a computer chip&#10;&#10;Description automatically generated">
            <a:extLst>
              <a:ext uri="{FF2B5EF4-FFF2-40B4-BE49-F238E27FC236}">
                <a16:creationId xmlns:a16="http://schemas.microsoft.com/office/drawing/2014/main" id="{CB1DA6F1-DE58-CE7A-88A3-47646C8258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2865"/>
            <a:ext cx="3556183" cy="2659630"/>
          </a:xfrm>
          <a:prstGeom prst="rect">
            <a:avLst/>
          </a:prstGeom>
        </p:spPr>
      </p:pic>
      <p:pic>
        <p:nvPicPr>
          <p:cNvPr id="7" name="Picture 6" descr="A diagram of a computer chip&#10;&#10;Description automatically generated">
            <a:extLst>
              <a:ext uri="{FF2B5EF4-FFF2-40B4-BE49-F238E27FC236}">
                <a16:creationId xmlns:a16="http://schemas.microsoft.com/office/drawing/2014/main" id="{C5404674-84F5-02DF-E8BA-E79A3454E0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194" y="1646049"/>
            <a:ext cx="4443251" cy="2218373"/>
          </a:xfrm>
          <a:prstGeom prst="rect">
            <a:avLst/>
          </a:prstGeom>
        </p:spPr>
      </p:pic>
      <p:pic>
        <p:nvPicPr>
          <p:cNvPr id="12" name="Picture 11" descr="A black rectangular object with different colored wires&#10;&#10;Description automatically generated">
            <a:extLst>
              <a:ext uri="{FF2B5EF4-FFF2-40B4-BE49-F238E27FC236}">
                <a16:creationId xmlns:a16="http://schemas.microsoft.com/office/drawing/2014/main" id="{9676B664-5595-7A4A-416F-A9E77A9A38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5472" y="1646049"/>
            <a:ext cx="4176528" cy="2218374"/>
          </a:xfrm>
          <a:prstGeom prst="rect">
            <a:avLst/>
          </a:prstGeom>
        </p:spPr>
      </p:pic>
      <p:pic>
        <p:nvPicPr>
          <p:cNvPr id="14" name="Picture 13" descr="A hand holding an orange object&#10;&#10;Description automatically generated">
            <a:extLst>
              <a:ext uri="{FF2B5EF4-FFF2-40B4-BE49-F238E27FC236}">
                <a16:creationId xmlns:a16="http://schemas.microsoft.com/office/drawing/2014/main" id="{A2F5664B-1A32-1FE3-E34D-4A9598DAD7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91" y="3932495"/>
            <a:ext cx="3719587" cy="278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29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E4E10-219D-D3BD-77EE-7F96D611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60DC7-824B-C0CE-2DB0-D12A9D3D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FE1FD2-53FA-4896-220C-E5E9923E742A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Experimental Setup and Results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C3766C-2D45-86CE-9ABA-C30685F4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Hardware Configuration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FFF9939C-1D9C-7926-2394-B9472214D239}"/>
              </a:ext>
            </a:extLst>
          </p:cNvPr>
          <p:cNvSpPr txBox="1">
            <a:spLocks/>
          </p:cNvSpPr>
          <p:nvPr/>
        </p:nvSpPr>
        <p:spPr>
          <a:xfrm>
            <a:off x="838200" y="184785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Setting Up the Hardware</a:t>
            </a:r>
          </a:p>
          <a:p>
            <a:pPr marL="0" indent="0">
              <a:buNone/>
            </a:pPr>
            <a:r>
              <a:rPr lang="en-US" sz="2400" dirty="0"/>
              <a:t>To set up the </a:t>
            </a:r>
            <a:r>
              <a:rPr lang="en-US" sz="2400" b="1" dirty="0" err="1"/>
              <a:t>Seeed</a:t>
            </a:r>
            <a:r>
              <a:rPr lang="en-US" sz="2400" b="1" dirty="0"/>
              <a:t> XIAO nRF52840 Sense</a:t>
            </a:r>
            <a:r>
              <a:rPr lang="en-US" sz="2400" dirty="0"/>
              <a:t> for motion tracking applications, the following components are required:</a:t>
            </a:r>
          </a:p>
          <a:p>
            <a:r>
              <a:rPr lang="en-US" sz="2400" b="1" dirty="0"/>
              <a:t>1 x </a:t>
            </a:r>
            <a:r>
              <a:rPr lang="en-US" sz="2400" b="1" dirty="0" err="1"/>
              <a:t>Seeed</a:t>
            </a:r>
            <a:r>
              <a:rPr lang="en-US" sz="2400" b="1" dirty="0"/>
              <a:t> XIAO nRF52840 Sense</a:t>
            </a:r>
            <a:endParaRPr lang="en-US" sz="2400" dirty="0"/>
          </a:p>
          <a:p>
            <a:r>
              <a:rPr lang="en-US" sz="2400" b="1" dirty="0"/>
              <a:t>1 x 3.3V 80mAh Battery</a:t>
            </a:r>
            <a:endParaRPr lang="en-US" sz="2400" dirty="0"/>
          </a:p>
          <a:p>
            <a:r>
              <a:rPr lang="en-US" sz="2400" b="1" dirty="0"/>
              <a:t>1 x Device Housing with Strap</a:t>
            </a:r>
            <a:r>
              <a:rPr lang="en-US" sz="2400" dirty="0"/>
              <a:t> (for wearable form factor)</a:t>
            </a:r>
          </a:p>
          <a:p>
            <a:r>
              <a:rPr lang="en-US" sz="2400" b="1" dirty="0"/>
              <a:t>1 x Computer</a:t>
            </a:r>
            <a:r>
              <a:rPr lang="en-US" sz="2400" dirty="0"/>
              <a:t> (for software and code deployment)</a:t>
            </a:r>
          </a:p>
          <a:p>
            <a:r>
              <a:rPr lang="en-US" sz="2400" b="1" dirty="0"/>
              <a:t>1 x USB Type-C Cable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Setup Process:</a:t>
            </a:r>
          </a:p>
          <a:p>
            <a:r>
              <a:rPr lang="en-US" sz="2400" b="1" dirty="0"/>
              <a:t>Connect the </a:t>
            </a:r>
            <a:r>
              <a:rPr lang="en-US" sz="2400" b="1" dirty="0" err="1"/>
              <a:t>Seeed</a:t>
            </a:r>
            <a:r>
              <a:rPr lang="en-US" sz="2400" b="1" dirty="0"/>
              <a:t> XIAO nRF52840 Sense</a:t>
            </a:r>
            <a:r>
              <a:rPr lang="en-US" sz="2400" dirty="0"/>
              <a:t> to your computer using a </a:t>
            </a:r>
            <a:r>
              <a:rPr lang="en-US" sz="2400" b="1" dirty="0"/>
              <a:t>USB Type-C cable</a:t>
            </a:r>
            <a:r>
              <a:rPr lang="en-US" sz="2400" dirty="0"/>
              <a:t>. </a:t>
            </a:r>
          </a:p>
          <a:p>
            <a:r>
              <a:rPr lang="en-US" sz="2400" b="1" dirty="0"/>
              <a:t>Attach the Battery</a:t>
            </a:r>
            <a:r>
              <a:rPr lang="en-US" sz="2400" dirty="0"/>
              <a:t>: Ensure that the battery is securely connected to the XIAO nRF52840 Sense for portable operation.</a:t>
            </a:r>
          </a:p>
        </p:txBody>
      </p:sp>
    </p:spTree>
    <p:extLst>
      <p:ext uri="{BB962C8B-B14F-4D97-AF65-F5344CB8AC3E}">
        <p14:creationId xmlns:p14="http://schemas.microsoft.com/office/powerpoint/2010/main" val="1158864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EB2F6-72F6-C5B7-57BD-7D50D5BB5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7641CB-BFCD-823C-94E0-D52B056B38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Edge Impulse Studio</a:t>
            </a:r>
            <a:r>
              <a:rPr lang="en-US" dirty="0"/>
              <a:t> is used for collecting IMU data, performing signal processing, training machine learning models, and deploying them to the </a:t>
            </a:r>
            <a:r>
              <a:rPr lang="en-US" b="1" dirty="0" err="1"/>
              <a:t>Seeed</a:t>
            </a:r>
            <a:r>
              <a:rPr lang="en-US" b="1" dirty="0"/>
              <a:t> XIAO nRF52840 Sense</a:t>
            </a:r>
            <a:r>
              <a:rPr lang="en-US" dirty="0"/>
              <a:t>. Despite some challenges with direct IMU integration, UART communication is used for data capture.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Arduino IDE</a:t>
            </a:r>
            <a:r>
              <a:rPr lang="en-US" dirty="0"/>
              <a:t> enables firmware programming to handle sensor data streaming over BLE and integrate machine learning models for real-time inference. The setup process includes installing the appropriate board packages and libraries, ensuring smooth communication between the </a:t>
            </a:r>
            <a:r>
              <a:rPr lang="en-US" b="1" dirty="0"/>
              <a:t>XIAO nRF52840 Sense</a:t>
            </a:r>
            <a:r>
              <a:rPr lang="en-US" dirty="0"/>
              <a:t> and Edge Impulse Studio.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8B75C-EE16-82DE-DEBF-5CF05573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D50BA7-9B17-8AC9-C29B-4C25C0F06E64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Experimental Setup and Results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5F18460-BF22-F435-B0F7-9CD1E640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Software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96678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8727B-033C-2F2B-A65F-29F0BCF3E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C752E2-471C-B90D-FF07-7D24E03B9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7481784" cy="4351338"/>
          </a:xfrm>
        </p:spPr>
        <p:txBody>
          <a:bodyPr>
            <a:normAutofit/>
          </a:bodyPr>
          <a:lstStyle/>
          <a:p>
            <a:r>
              <a:rPr lang="en-US" b="1" dirty="0"/>
              <a:t>Sensor Placement: </a:t>
            </a:r>
            <a:r>
              <a:rPr lang="en-US" dirty="0"/>
              <a:t>Device affixed to the ankle using a strap for stability and consistent positioning.</a:t>
            </a:r>
          </a:p>
          <a:p>
            <a:r>
              <a:rPr lang="en-US" b="1" dirty="0"/>
              <a:t>Recording:</a:t>
            </a:r>
            <a:r>
              <a:rPr lang="en-US" dirty="0"/>
              <a:t> Each activity was recorded for around 30 seconds using Arduino sketch to capture serial data. The sampling frequency using is 100Hz.</a:t>
            </a:r>
          </a:p>
          <a:p>
            <a:r>
              <a:rPr lang="en-US" b="1" dirty="0"/>
              <a:t>Labeling:</a:t>
            </a:r>
            <a:r>
              <a:rPr lang="en-US" dirty="0"/>
              <a:t> Manual labeling during data acquisition to map samples to their respective activities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BF07B2-1ED0-06C6-0366-962345DD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8FFDBE-B5FA-5C14-61C8-ECE9DF635658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Experimental Setup and Results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F5A50D6-4465-0F5B-740F-2998CB716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Data Acquisition</a:t>
            </a:r>
          </a:p>
        </p:txBody>
      </p:sp>
      <p:pic>
        <p:nvPicPr>
          <p:cNvPr id="7" name="Picture 6" descr="A person's leg with a bracelet on it&#10;&#10;Description automatically generated">
            <a:extLst>
              <a:ext uri="{FF2B5EF4-FFF2-40B4-BE49-F238E27FC236}">
                <a16:creationId xmlns:a16="http://schemas.microsoft.com/office/drawing/2014/main" id="{B7D33F41-AD7D-EA96-269C-C2B48896E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984" y="1976994"/>
            <a:ext cx="3872016" cy="290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26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E69BD6-6F72-14BB-59F0-D3C12C311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0BDEF9-5816-A493-BEF3-35112886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3279FC-6A69-3028-5806-BFE2B82CDBB7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Experimental Setup and Results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A492ABC-8FCE-284C-AB6B-B1015675B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Data Acquisition</a:t>
            </a:r>
          </a:p>
        </p:txBody>
      </p:sp>
      <p:pic>
        <p:nvPicPr>
          <p:cNvPr id="7" name="Picture 6" descr="Running 100Hz raw">
            <a:extLst>
              <a:ext uri="{FF2B5EF4-FFF2-40B4-BE49-F238E27FC236}">
                <a16:creationId xmlns:a16="http://schemas.microsoft.com/office/drawing/2014/main" id="{D827F7A3-A710-7603-37AB-0C0C855EFAC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580" y="1266575"/>
            <a:ext cx="9191272" cy="4629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753E04-9E0E-2FED-C501-E38ED193F75E}"/>
              </a:ext>
            </a:extLst>
          </p:cNvPr>
          <p:cNvSpPr txBox="1"/>
          <p:nvPr/>
        </p:nvSpPr>
        <p:spPr>
          <a:xfrm>
            <a:off x="1704580" y="6025896"/>
            <a:ext cx="919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3.5: Running 100Hz raw</a:t>
            </a:r>
          </a:p>
        </p:txBody>
      </p:sp>
    </p:spTree>
    <p:extLst>
      <p:ext uri="{BB962C8B-B14F-4D97-AF65-F5344CB8AC3E}">
        <p14:creationId xmlns:p14="http://schemas.microsoft.com/office/powerpoint/2010/main" val="2103920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AF8BE-1EF4-F2B3-E764-0554DEFE5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A282B-9E93-7BC7-E30B-8FBAAEA72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25322B-7DB7-DE8E-A57A-63ECEE571B53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Experimental Setup and Results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B6EEF07-CB85-4541-0785-74040F60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Data Acquisition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1FA167-39BC-F195-B6D8-438FA57F50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4580" y="1266575"/>
            <a:ext cx="9191271" cy="46291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2993CE6-791F-9B6D-2110-013DC75AC2D4}"/>
              </a:ext>
            </a:extLst>
          </p:cNvPr>
          <p:cNvSpPr txBox="1"/>
          <p:nvPr/>
        </p:nvSpPr>
        <p:spPr>
          <a:xfrm>
            <a:off x="1704580" y="6025896"/>
            <a:ext cx="919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Figure 3.6: Running 100Hz preprocessed</a:t>
            </a:r>
          </a:p>
        </p:txBody>
      </p:sp>
    </p:spTree>
    <p:extLst>
      <p:ext uri="{BB962C8B-B14F-4D97-AF65-F5344CB8AC3E}">
        <p14:creationId xmlns:p14="http://schemas.microsoft.com/office/powerpoint/2010/main" val="832291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4E74AC-B3D4-5B08-4099-7491E12E0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74777-A73A-5FAC-0CEC-5D97B7F5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7EE69-9D26-8101-8B7F-EF777D8BCABA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Experimental Setup and Results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DB36485-D344-A522-B30B-AE75AD864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Data Acquisition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1E0EEE-DC39-6CA8-CBA5-7ABC7CBC9F2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4580" y="1266575"/>
            <a:ext cx="9191271" cy="46291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9FD1AF-F6B0-3C8A-611D-85F8F59AF8A7}"/>
              </a:ext>
            </a:extLst>
          </p:cNvPr>
          <p:cNvSpPr txBox="1"/>
          <p:nvPr/>
        </p:nvSpPr>
        <p:spPr>
          <a:xfrm>
            <a:off x="1704580" y="6025896"/>
            <a:ext cx="919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Figure 3.7: Walking 100Hz raw</a:t>
            </a:r>
          </a:p>
        </p:txBody>
      </p:sp>
    </p:spTree>
    <p:extLst>
      <p:ext uri="{BB962C8B-B14F-4D97-AF65-F5344CB8AC3E}">
        <p14:creationId xmlns:p14="http://schemas.microsoft.com/office/powerpoint/2010/main" val="35685737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0C031-0952-B22B-B157-C013D011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99052-00E8-95BC-7938-FB7EACC9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FBDEC5-29E9-531F-47B2-C07BF7500CD1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Experimental Setup and Results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B6B18CD-4805-5C4B-0580-AA1B4353F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en-US" dirty="0"/>
              <a:t>Data Acquisition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1E348C-4F56-69A9-2445-2725744B530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4580" y="1266575"/>
            <a:ext cx="9191271" cy="46291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15AB600-916B-E547-F320-AFEB3B6B553E}"/>
              </a:ext>
            </a:extLst>
          </p:cNvPr>
          <p:cNvSpPr txBox="1"/>
          <p:nvPr/>
        </p:nvSpPr>
        <p:spPr>
          <a:xfrm>
            <a:off x="1704580" y="6025896"/>
            <a:ext cx="9191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Figure 3.8: Walking 100Hz preprocessed</a:t>
            </a:r>
          </a:p>
        </p:txBody>
      </p:sp>
    </p:spTree>
    <p:extLst>
      <p:ext uri="{BB962C8B-B14F-4D97-AF65-F5344CB8AC3E}">
        <p14:creationId xmlns:p14="http://schemas.microsoft.com/office/powerpoint/2010/main" val="3223238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1D4A8C-D9DB-80BA-87CD-BDE2E02DC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AD53AA-20B9-88A7-29E1-DD1688B1A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[1] Markus </a:t>
            </a:r>
            <a:r>
              <a:rPr lang="en-US" sz="1800" dirty="0" err="1"/>
              <a:t>Miezal</a:t>
            </a:r>
            <a:r>
              <a:rPr lang="en-US" sz="1800" dirty="0"/>
              <a:t> Gabriele </a:t>
            </a:r>
            <a:r>
              <a:rPr lang="en-US" sz="1800" dirty="0" err="1"/>
              <a:t>Bleser</a:t>
            </a:r>
            <a:r>
              <a:rPr lang="en-US" sz="1800" dirty="0"/>
              <a:t>-Emanuele </a:t>
            </a:r>
            <a:r>
              <a:rPr lang="en-US" sz="1800" dirty="0" err="1"/>
              <a:t>Ruffaldi</a:t>
            </a:r>
            <a:r>
              <a:rPr lang="en-US" sz="1800" dirty="0"/>
              <a:t> Alessandro </a:t>
            </a:r>
            <a:r>
              <a:rPr lang="en-US" sz="1800" dirty="0" err="1"/>
              <a:t>Filippeschi</a:t>
            </a:r>
            <a:r>
              <a:rPr lang="en-US" sz="1800" dirty="0"/>
              <a:t>, Nor </a:t>
            </a:r>
            <a:r>
              <a:rPr lang="en-US" sz="1800" dirty="0" err="1"/>
              <a:t>bert</a:t>
            </a:r>
            <a:r>
              <a:rPr lang="en-US" sz="1800" dirty="0"/>
              <a:t> Schmitz and Didier Stricker. Survey of motion tracking methods based on inertial sensors: A focus on upper limb human motion. Advances in Body Sensor Networks: Sensors, Systems, and Applications, 2017.</a:t>
            </a:r>
          </a:p>
          <a:p>
            <a:pPr marL="0" indent="0">
              <a:buNone/>
            </a:pPr>
            <a:r>
              <a:rPr lang="en-US" sz="1800" dirty="0"/>
              <a:t>[2] Kaustubh </a:t>
            </a:r>
            <a:r>
              <a:rPr lang="en-US" sz="1800" dirty="0" err="1"/>
              <a:t>Utturwar</a:t>
            </a:r>
            <a:r>
              <a:rPr lang="en-US" sz="1800" dirty="0"/>
              <a:t> Tejas </a:t>
            </a:r>
            <a:r>
              <a:rPr lang="en-US" sz="1800" dirty="0" err="1"/>
              <a:t>Shelked</a:t>
            </a:r>
            <a:r>
              <a:rPr lang="en-US" sz="1800" dirty="0"/>
              <a:t> Anuj Patil, Darshan Rao and Ekta Sarda. Body posture detection and motion tracking using ai for medical exercises and </a:t>
            </a:r>
            <a:r>
              <a:rPr lang="en-US" sz="1800" dirty="0" err="1"/>
              <a:t>recom</a:t>
            </a:r>
            <a:r>
              <a:rPr lang="en-US" sz="1800" dirty="0"/>
              <a:t> </a:t>
            </a:r>
            <a:r>
              <a:rPr lang="en-US" sz="1800" dirty="0" err="1"/>
              <a:t>mendation</a:t>
            </a:r>
            <a:r>
              <a:rPr lang="en-US" sz="1800" dirty="0"/>
              <a:t> system. ITM Web Conf. Volume 44, 2022 International Conference on Automation, Computing and Communication 2022 (ICACC-2022), 2022, May 05.</a:t>
            </a:r>
          </a:p>
          <a:p>
            <a:pPr marL="0" indent="0">
              <a:buNone/>
            </a:pPr>
            <a:r>
              <a:rPr lang="en-US" sz="1800" dirty="0"/>
              <a:t>[3] Google. </a:t>
            </a:r>
            <a:r>
              <a:rPr lang="en-US" sz="1800" dirty="0" err="1"/>
              <a:t>Litert</a:t>
            </a:r>
            <a:r>
              <a:rPr lang="en-US" sz="1800" dirty="0"/>
              <a:t> overview, internet: https://ai.google.dev/edge/litert, Dec 12, 2024.</a:t>
            </a:r>
          </a:p>
          <a:p>
            <a:pPr marL="0" indent="0">
              <a:buNone/>
            </a:pPr>
            <a:r>
              <a:rPr lang="en-US" sz="1800" dirty="0"/>
              <a:t>[4] Google. </a:t>
            </a:r>
            <a:r>
              <a:rPr lang="en-US" sz="1800" dirty="0" err="1"/>
              <a:t>Mediapipe</a:t>
            </a:r>
            <a:r>
              <a:rPr lang="en-US" sz="1800" dirty="0"/>
              <a:t> solutions guide, internet: https://ai.google.dev/edge/mediapipe/solutions/guide, Dec 12, 2024.</a:t>
            </a:r>
          </a:p>
          <a:p>
            <a:pPr marL="0" indent="0">
              <a:buNone/>
            </a:pPr>
            <a:r>
              <a:rPr lang="en-US" sz="1800" dirty="0"/>
              <a:t>[5] Google. Teachable machine, internet: https://teachablemachine.withgoogle.com/, Dec 12, 2024.</a:t>
            </a:r>
          </a:p>
          <a:p>
            <a:pPr marL="0" indent="0">
              <a:buNone/>
            </a:pPr>
            <a:r>
              <a:rPr lang="en-US" sz="1800" dirty="0"/>
              <a:t>[6] Edge Impulse. Edge impulse, internet: https://studio.edgeimpulse.com/, Dec 12, 2024.</a:t>
            </a:r>
          </a:p>
          <a:p>
            <a:pPr marL="0" indent="0">
              <a:buNone/>
            </a:pPr>
            <a:r>
              <a:rPr lang="en-US" sz="1800" dirty="0"/>
              <a:t>[7] Marcelo </a:t>
            </a:r>
            <a:r>
              <a:rPr lang="en-US" sz="1800" dirty="0" err="1"/>
              <a:t>Rovai</a:t>
            </a:r>
            <a:r>
              <a:rPr lang="en-US" sz="1800" dirty="0"/>
              <a:t> Lei Feng. XIAO: Big Power, Small Board Mastering Arduino and </a:t>
            </a:r>
            <a:r>
              <a:rPr lang="en-US" sz="1800" dirty="0" err="1"/>
              <a:t>TinyML</a:t>
            </a:r>
            <a:r>
              <a:rPr lang="en-US" sz="1800" dirty="0"/>
              <a:t>. </a:t>
            </a:r>
            <a:r>
              <a:rPr lang="en-US" sz="1800" dirty="0" err="1"/>
              <a:t>Seeed</a:t>
            </a:r>
            <a:r>
              <a:rPr lang="en-US" sz="1800" dirty="0"/>
              <a:t> Studio, 2024, January 10.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D3ADE-1A0D-3AF8-0B8F-3F361232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79B6DC-80BA-60AB-C649-94B58389F383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References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829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C7D2B-1406-C0F4-6AA7-257405864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234198-6EA8-D726-2D3E-540535C59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800" dirty="0"/>
              <a:t>[8] Tommaso Marangoni </a:t>
            </a:r>
            <a:r>
              <a:rPr lang="en-US" sz="1800" dirty="0" err="1"/>
              <a:t>Mariolino</a:t>
            </a:r>
            <a:r>
              <a:rPr lang="en-US" sz="1800" dirty="0"/>
              <a:t> De Cecco Marco </a:t>
            </a:r>
            <a:r>
              <a:rPr lang="en-US" sz="1800" dirty="0" err="1"/>
              <a:t>Tarabini</a:t>
            </a:r>
            <a:r>
              <a:rPr lang="en-US" sz="1800" dirty="0"/>
              <a:t> Manuela Galli Mat </a:t>
            </a:r>
            <a:r>
              <a:rPr lang="en-US" sz="1800" dirty="0" err="1"/>
              <a:t>teo</a:t>
            </a:r>
            <a:r>
              <a:rPr lang="en-US" sz="1800" dirty="0"/>
              <a:t> </a:t>
            </a:r>
            <a:r>
              <a:rPr lang="en-US" sz="1800" dirty="0" err="1"/>
              <a:t>Zago</a:t>
            </a:r>
            <a:r>
              <a:rPr lang="en-US" sz="1800" dirty="0"/>
              <a:t>, Matteo </a:t>
            </a:r>
            <a:r>
              <a:rPr lang="en-US" sz="1800" dirty="0" err="1"/>
              <a:t>Luzzago</a:t>
            </a:r>
            <a:r>
              <a:rPr lang="en-US" sz="1800" dirty="0"/>
              <a:t>. 3d tracking of human motion using visual </a:t>
            </a:r>
            <a:r>
              <a:rPr lang="en-US" sz="1800" dirty="0" err="1"/>
              <a:t>skeletoniza</a:t>
            </a:r>
            <a:r>
              <a:rPr lang="en-US" sz="1800" dirty="0"/>
              <a:t> </a:t>
            </a:r>
            <a:r>
              <a:rPr lang="en-US" sz="1800" dirty="0" err="1"/>
              <a:t>tion</a:t>
            </a:r>
            <a:r>
              <a:rPr lang="en-US" sz="1800" dirty="0"/>
              <a:t> and stereoscopic vision. Machine Learning Approaches to Human Movement Analysis, 2020, March 05.</a:t>
            </a:r>
          </a:p>
          <a:p>
            <a:pPr marL="0" indent="0">
              <a:buNone/>
            </a:pPr>
            <a:r>
              <a:rPr lang="en-US" sz="1800" dirty="0"/>
              <a:t>[9] Man Luo Nian-</a:t>
            </a:r>
            <a:r>
              <a:rPr lang="en-US" sz="1800" dirty="0" err="1"/>
              <a:t>hua</a:t>
            </a:r>
            <a:r>
              <a:rPr lang="en-US" sz="1800" dirty="0"/>
              <a:t> Zhu Peng-</a:t>
            </a:r>
            <a:r>
              <a:rPr lang="en-US" sz="1800" dirty="0" err="1"/>
              <a:t>zhan</a:t>
            </a:r>
            <a:r>
              <a:rPr lang="en-US" sz="1800" dirty="0"/>
              <a:t> Chen, Jie Li. Real-time human motion capture driven by a wireless sensor network. International Journal of Computer Games </a:t>
            </a:r>
            <a:r>
              <a:rPr lang="en-US" sz="1800" dirty="0" err="1"/>
              <a:t>Techonology</a:t>
            </a:r>
            <a:r>
              <a:rPr lang="en-US" sz="1800" dirty="0"/>
              <a:t>, 2015.</a:t>
            </a:r>
          </a:p>
          <a:p>
            <a:pPr marL="0" indent="0">
              <a:buNone/>
            </a:pPr>
            <a:r>
              <a:rPr lang="en-US" sz="1800" dirty="0"/>
              <a:t>[10] </a:t>
            </a:r>
            <a:r>
              <a:rPr lang="en-US" sz="1800" dirty="0" err="1"/>
              <a:t>Seeed</a:t>
            </a:r>
            <a:r>
              <a:rPr lang="en-US" sz="1800" dirty="0"/>
              <a:t> Studio. Xiao nrf52840 series, internet: https://wiki.seeedstudio.com/xiao_ble/, Dec 12, 2024.</a:t>
            </a:r>
          </a:p>
          <a:p>
            <a:pPr marL="0" indent="0">
              <a:buNone/>
            </a:pPr>
            <a:r>
              <a:rPr lang="en-US" sz="1800" dirty="0"/>
              <a:t>[11] </a:t>
            </a:r>
            <a:r>
              <a:rPr lang="en-US" sz="1800" dirty="0" err="1"/>
              <a:t>Benaissa</a:t>
            </a:r>
            <a:r>
              <a:rPr lang="en-US" sz="1800" dirty="0"/>
              <a:t> </a:t>
            </a:r>
            <a:r>
              <a:rPr lang="en-US" sz="1800" dirty="0" err="1"/>
              <a:t>Bellach</a:t>
            </a:r>
            <a:r>
              <a:rPr lang="en-US" sz="1800" dirty="0"/>
              <a:t> Rachid </a:t>
            </a:r>
            <a:r>
              <a:rPr lang="en-US" sz="1800" dirty="0" err="1"/>
              <a:t>Oulad</a:t>
            </a:r>
            <a:r>
              <a:rPr lang="en-US" sz="1800" dirty="0"/>
              <a:t> Haj Thami Hamid </a:t>
            </a:r>
            <a:r>
              <a:rPr lang="en-US" sz="1800" dirty="0" err="1"/>
              <a:t>Tairi</a:t>
            </a:r>
            <a:r>
              <a:rPr lang="en-US" sz="1800" dirty="0"/>
              <a:t> </a:t>
            </a:r>
            <a:r>
              <a:rPr lang="en-US" sz="1800" dirty="0" err="1"/>
              <a:t>Wafae</a:t>
            </a:r>
            <a:r>
              <a:rPr lang="en-US" sz="1800" dirty="0"/>
              <a:t> </a:t>
            </a:r>
            <a:r>
              <a:rPr lang="en-US" sz="1800" dirty="0" err="1"/>
              <a:t>Mrabti</a:t>
            </a:r>
            <a:r>
              <a:rPr lang="en-US" sz="1800" dirty="0"/>
              <a:t>, </a:t>
            </a:r>
            <a:r>
              <a:rPr lang="en-US" sz="1800" dirty="0" err="1"/>
              <a:t>Kaoutar</a:t>
            </a:r>
            <a:r>
              <a:rPr lang="en-US" sz="1800" dirty="0"/>
              <a:t> </a:t>
            </a:r>
            <a:r>
              <a:rPr lang="en-US" sz="1800" dirty="0" err="1"/>
              <a:t>Baibai</a:t>
            </a:r>
            <a:r>
              <a:rPr lang="en-US" sz="1800" dirty="0"/>
              <a:t>. Human motion tracking: A comparative study. Second Interna </a:t>
            </a:r>
            <a:r>
              <a:rPr lang="en-US" sz="1800" dirty="0" err="1"/>
              <a:t>tional</a:t>
            </a:r>
            <a:r>
              <a:rPr lang="en-US" sz="1800" dirty="0"/>
              <a:t> Conference on Intelligent Computing in Data Sciences (ICDS 2018), 2018.</a:t>
            </a:r>
          </a:p>
          <a:p>
            <a:pPr marL="0" indent="0">
              <a:buNone/>
            </a:pPr>
            <a:r>
              <a:rPr lang="en-US" sz="1800" dirty="0"/>
              <a:t>[12] </a:t>
            </a:r>
            <a:r>
              <a:rPr lang="en-US" sz="1800" dirty="0" err="1"/>
              <a:t>Huiyu</a:t>
            </a:r>
            <a:r>
              <a:rPr lang="en-US" sz="1800" dirty="0"/>
              <a:t> Zhou and </a:t>
            </a:r>
            <a:r>
              <a:rPr lang="en-US" sz="1800" dirty="0" err="1"/>
              <a:t>Huosheng</a:t>
            </a:r>
            <a:r>
              <a:rPr lang="en-US" sz="1800" dirty="0"/>
              <a:t> Hu. Human motion tracking for rehabilitation—a survey. Biomedical Signal Processing and Control, 3:1–18, 01 2008.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1E2B7-A5AF-0186-5419-B05D67FDC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6352"/>
            <a:ext cx="27432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880F96C-824F-4C37-99B8-7E149B40C9D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A7485-DC87-DF79-7D1D-B4DDDC74E123}"/>
              </a:ext>
            </a:extLst>
          </p:cNvPr>
          <p:cNvSpPr txBox="1"/>
          <p:nvPr/>
        </p:nvSpPr>
        <p:spPr>
          <a:xfrm>
            <a:off x="838200" y="230192"/>
            <a:ext cx="5462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References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219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CC02D6-0C49-EA9C-3461-ED370F7D5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4B7855B-34EA-C0CA-4B53-2C129A468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2116" y="1330642"/>
            <a:ext cx="7287768" cy="2387600"/>
          </a:xfrm>
        </p:spPr>
        <p:txBody>
          <a:bodyPr>
            <a:normAutofit/>
          </a:bodyPr>
          <a:lstStyle/>
          <a:p>
            <a:r>
              <a:rPr lang="en-US" sz="4000" dirty="0"/>
              <a:t>Thank You For Listening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6A954-C1C2-84B4-E973-0ED3FD81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5810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2750</Words>
  <Application>Microsoft Office PowerPoint</Application>
  <PresentationFormat>Widescreen</PresentationFormat>
  <Paragraphs>293</Paragraphs>
  <Slides>25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1_Office Theme</vt:lpstr>
      <vt:lpstr>Xây dựng framework tạo dựng mô hình AI cho các ứng dụng theo dõi chuyển động của con người</vt:lpstr>
      <vt:lpstr>Nội dung</vt:lpstr>
      <vt:lpstr>Background: Motion Tracking &amp; AI Integration</vt:lpstr>
      <vt:lpstr>Problem Statement</vt:lpstr>
      <vt:lpstr>Research Goals</vt:lpstr>
      <vt:lpstr>Motion Tracking Applications</vt:lpstr>
      <vt:lpstr>AI Models Generation Techniques</vt:lpstr>
      <vt:lpstr>AI Models Generation Techniques</vt:lpstr>
      <vt:lpstr>AI Models Generation Techniques</vt:lpstr>
      <vt:lpstr>Benefits of Motion Tracking AI Models</vt:lpstr>
      <vt:lpstr>Challenges in Motion Tracking AI Models</vt:lpstr>
      <vt:lpstr>Challenges in Motion Tracking &amp; AI Integration</vt:lpstr>
      <vt:lpstr>Current Trends in Motion Tracking and AI Integration</vt:lpstr>
      <vt:lpstr>Hardware Configuration</vt:lpstr>
      <vt:lpstr>Hardware Configuration</vt:lpstr>
      <vt:lpstr>Hardware Configuration</vt:lpstr>
      <vt:lpstr>Software Configuration</vt:lpstr>
      <vt:lpstr>Data Acquisition</vt:lpstr>
      <vt:lpstr>Data Acquisition</vt:lpstr>
      <vt:lpstr>Data Acquisition</vt:lpstr>
      <vt:lpstr>Data Acquisition</vt:lpstr>
      <vt:lpstr>Data Acquisition</vt:lpstr>
      <vt:lpstr>PowerPoint Presentation</vt:lpstr>
      <vt:lpstr>PowerPoint Presentation</vt:lpstr>
      <vt:lpstr>Thank You For Listening 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 Nguyen Truong Minh</dc:creator>
  <cp:lastModifiedBy>Hoang Nguyen Truong Minh</cp:lastModifiedBy>
  <cp:revision>3</cp:revision>
  <dcterms:created xsi:type="dcterms:W3CDTF">2024-12-17T18:20:16Z</dcterms:created>
  <dcterms:modified xsi:type="dcterms:W3CDTF">2026-06-08T15:56:32Z</dcterms:modified>
</cp:coreProperties>
</file>