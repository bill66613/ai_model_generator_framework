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C2A606-2C9B-4270-8C57-A01F430D5B8F}" v="14" dt="2026-06-08T15:56:24.4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microsoft.com/office/2016/11/relationships/changesInfo" Target="changesInfos/changesInfo1.xml"/><Relationship Id="rId3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ang Nguyen Truong Minh" userId="f195eebd6133826f" providerId="LiveId" clId="{4330105A-28A6-4F18-89DE-96B2E0FC7D93}"/>
    <pc:docChg chg="undo custSel modSld">
      <pc:chgData name="Hoang Nguyen Truong Minh" userId="f195eebd6133826f" providerId="LiveId" clId="{4330105A-28A6-4F18-89DE-96B2E0FC7D93}" dt="2026-06-08T15:56:24.142" v="110" actId="108"/>
      <pc:docMkLst>
        <pc:docMk/>
      </pc:docMkLst>
      <pc:sldChg chg="modSp mod">
        <pc:chgData name="Hoang Nguyen Truong Minh" userId="f195eebd6133826f" providerId="LiveId" clId="{4330105A-28A6-4F18-89DE-96B2E0FC7D93}" dt="2026-06-08T15:56:24.142" v="110" actId="108"/>
        <pc:sldMkLst>
          <pc:docMk/>
          <pc:sldMk cId="3564004510" sldId="258"/>
        </pc:sldMkLst>
        <pc:spChg chg="mod">
          <ac:chgData name="Hoang Nguyen Truong Minh" userId="f195eebd6133826f" providerId="LiveId" clId="{4330105A-28A6-4F18-89DE-96B2E0FC7D93}" dt="2026-06-08T15:56:24.142" v="110" actId="108"/>
          <ac:spMkLst>
            <pc:docMk/>
            <pc:sldMk cId="3564004510" sldId="258"/>
            <ac:spMk id="7" creationId="{00000000-0000-0000-0000-000000000000}"/>
          </ac:spMkLst>
        </pc:spChg>
        <pc:spChg chg="mod">
          <ac:chgData name="Hoang Nguyen Truong Minh" userId="f195eebd6133826f" providerId="LiveId" clId="{4330105A-28A6-4F18-89DE-96B2E0FC7D93}" dt="2026-06-08T15:54:44.914" v="83" actId="20577"/>
          <ac:spMkLst>
            <pc:docMk/>
            <pc:sldMk cId="3564004510" sldId="258"/>
            <ac:spMk id="8" creationId="{00000000-0000-0000-0000-000000000000}"/>
          </ac:spMkLst>
        </pc:spChg>
      </pc:sldChg>
      <pc:sldChg chg="modSp mod">
        <pc:chgData name="Hoang Nguyen Truong Minh" userId="f195eebd6133826f" providerId="LiveId" clId="{4330105A-28A6-4F18-89DE-96B2E0FC7D93}" dt="2026-06-08T15:55:44.542" v="104" actId="20577"/>
        <pc:sldMkLst>
          <pc:docMk/>
          <pc:sldMk cId="2738630751" sldId="278"/>
        </pc:sldMkLst>
        <pc:spChg chg="mod">
          <ac:chgData name="Hoang Nguyen Truong Minh" userId="f195eebd6133826f" providerId="LiveId" clId="{4330105A-28A6-4F18-89DE-96B2E0FC7D93}" dt="2026-06-08T15:55:44.542" v="104" actId="20577"/>
          <ac:spMkLst>
            <pc:docMk/>
            <pc:sldMk cId="2738630751" sldId="278"/>
            <ac:spMk id="2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D3E9BC-2B48-4A53-A0C9-64B6FA19A092}" type="datetimeFigureOut">
              <a:rPr lang="en-US" smtClean="0"/>
              <a:t>08-Jun-26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7FC696-34BD-4B75-B586-550FD4CCA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358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5/10/2019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871247" y="5990606"/>
            <a:ext cx="42643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1"/>
                </a:solidFill>
              </a:rPr>
              <a:t>ĐẠI</a:t>
            </a:r>
            <a:r>
              <a:rPr lang="en-US" sz="1200" baseline="0" dirty="0">
                <a:solidFill>
                  <a:schemeClr val="accent1"/>
                </a:solidFill>
              </a:rPr>
              <a:t> HỌC QUỐC GIA THÀNH PHỐ HỒ CHÍ MINH</a:t>
            </a:r>
          </a:p>
          <a:p>
            <a:pPr algn="ctr"/>
            <a:r>
              <a:rPr lang="en-US" sz="1200" b="1" baseline="0" dirty="0">
                <a:solidFill>
                  <a:schemeClr val="accent1">
                    <a:lumMod val="50000"/>
                  </a:schemeClr>
                </a:solidFill>
              </a:rPr>
              <a:t>TRƯỜNG ĐẠI HỌC BÁCH KHOA</a:t>
            </a:r>
            <a:endParaRPr lang="en-US" sz="12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8280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5/10/2019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0F96C-824F-4C37-99B8-7E149B40C9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070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5/10/2019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0F96C-824F-4C37-99B8-7E149B40C9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54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5/10/2019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0F96C-824F-4C37-99B8-7E149B40C9D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113412" y="1825625"/>
            <a:ext cx="0" cy="4222478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30000">
                  <a:schemeClr val="accent1">
                    <a:lumMod val="50000"/>
                  </a:schemeClr>
                </a:gs>
                <a:gs pos="81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544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5/10/2019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1825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5/10/2019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0F96C-824F-4C37-99B8-7E149B40C9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694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5/10/2019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0F96C-824F-4C37-99B8-7E149B40C9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712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5/10/2019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838202" y="1881156"/>
            <a:ext cx="3933825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8593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5/10/2019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0F96C-824F-4C37-99B8-7E149B40C9D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838202" y="1881156"/>
            <a:ext cx="3933825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9874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5/10/2019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0F96C-824F-4C37-99B8-7E149B40C9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24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5/10/2019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0F96C-824F-4C37-99B8-7E149B40C9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2549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544287"/>
            <a:ext cx="4809899" cy="783771"/>
          </a:xfrm>
          <a:solidFill>
            <a:schemeClr val="accent1">
              <a:lumMod val="5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anchor="b"/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1621971"/>
            <a:ext cx="4809899" cy="45676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1097" y="544285"/>
            <a:ext cx="4797835" cy="783772"/>
          </a:xfrm>
          <a:solidFill>
            <a:schemeClr val="accent1">
              <a:lumMod val="5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anchor="b"/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57553" y="1621971"/>
            <a:ext cx="4797835" cy="4567692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63177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5/10/2019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7000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8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70000"/>
            <a:ext cx="2743200" cy="365125"/>
          </a:xfrm>
          <a:prstGeom prst="rect">
            <a:avLst/>
          </a:prstGeom>
        </p:spPr>
        <p:txBody>
          <a:bodyPr/>
          <a:lstStyle/>
          <a:p>
            <a:fld id="{1880F96C-824F-4C37-99B8-7E149B40C9D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6113412" y="544290"/>
            <a:ext cx="0" cy="5503817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30000">
                  <a:schemeClr val="accent1">
                    <a:lumMod val="50000"/>
                  </a:schemeClr>
                </a:gs>
                <a:gs pos="81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01640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90" y="0"/>
            <a:ext cx="7008812" cy="68580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63177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5/10/2019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839788" y="457204"/>
            <a:ext cx="3932237" cy="122137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838202" y="1881156"/>
            <a:ext cx="3933825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12671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 userDrawn="1"/>
        </p:nvCxnSpPr>
        <p:spPr>
          <a:xfrm>
            <a:off x="1762127" y="908228"/>
            <a:ext cx="4171951" cy="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55000">
                  <a:srgbClr val="0070C0"/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504827" y="133350"/>
            <a:ext cx="7038975" cy="774878"/>
          </a:xfrm>
        </p:spPr>
        <p:txBody>
          <a:bodyPr anchor="b" anchorCtr="0"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1762127" y="1038225"/>
            <a:ext cx="4248151" cy="774878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1350" i="1"/>
            </a:lvl1pPr>
          </a:lstStyle>
          <a:p>
            <a:pPr lvl="0"/>
            <a:endParaRPr lang="en-US" dirty="0"/>
          </a:p>
        </p:txBody>
      </p:sp>
      <p:sp>
        <p:nvSpPr>
          <p:cNvPr id="12" name="Chart Placeholder 11"/>
          <p:cNvSpPr>
            <a:spLocks noGrp="1"/>
          </p:cNvSpPr>
          <p:nvPr>
            <p:ph type="chart" sz="quarter" idx="12"/>
          </p:nvPr>
        </p:nvSpPr>
        <p:spPr>
          <a:xfrm>
            <a:off x="200027" y="1645006"/>
            <a:ext cx="7115175" cy="4289070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69215" y="1645010"/>
            <a:ext cx="3932237" cy="5000091"/>
          </a:xfrm>
        </p:spPr>
        <p:txBody>
          <a:bodyPr/>
          <a:lstStyle>
            <a:lvl1pPr marL="0" indent="0">
              <a:buNone/>
              <a:defRPr sz="15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52837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5/10/2019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1322" y="0"/>
            <a:ext cx="12189361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38000">
                <a:schemeClr val="bg1">
                  <a:alpha val="15000"/>
                </a:schemeClr>
              </a:gs>
              <a:gs pos="84000">
                <a:schemeClr val="bg2">
                  <a:alpha val="30000"/>
                </a:schemeClr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088626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/>
              <a:t>Xây dựng framework tạo dựng mô hình AI</a:t>
            </a:r>
          </a:p>
          <a:p>
            <a:r>
              <a:t>cho các ứng dụng theo dõi chuyển động của con người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  <a:p>
            <a:r>
              <a:rPr sz="1600"/>
              <a:t>GVHD: TS. Lê Trọng Nhân</a:t>
            </a:r>
          </a:p>
          <a:p>
            <a:r>
              <a:rPr sz="1600"/>
              <a:t>Học viên: Nguyễn Trương Minh Hoàng - 2270757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Nội dung trình bày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003266"/>
                </a:solidFill>
              </a:rPr>
              <a:t>1. Bối cảnh &amp; Vấn đề nghiên cứu</a:t>
            </a:r>
          </a:p>
          <a:p>
            <a:pPr>
              <a:spcAft>
                <a:spcPts val="1200"/>
              </a:spcAft>
            </a:pPr>
            <a:r>
              <a:rPr sz="2200" b="1">
                <a:solidFill>
                  <a:srgbClr val="003266"/>
                </a:solidFill>
              </a:rPr>
              <a:t>2. Mục tiêu &amp; Đóng góp</a:t>
            </a:r>
          </a:p>
          <a:p>
            <a:pPr>
              <a:spcAft>
                <a:spcPts val="1200"/>
              </a:spcAft>
            </a:pPr>
            <a:r>
              <a:rPr sz="2200" b="1">
                <a:solidFill>
                  <a:srgbClr val="003266"/>
                </a:solidFill>
              </a:rPr>
              <a:t>3. Kiến trúc &amp; Tính năng cốt lõi</a:t>
            </a:r>
          </a:p>
          <a:p>
            <a:pPr>
              <a:spcAft>
                <a:spcPts val="1200"/>
              </a:spcAft>
            </a:pPr>
            <a:r>
              <a:rPr sz="2200" b="1">
                <a:solidFill>
                  <a:srgbClr val="003266"/>
                </a:solidFill>
              </a:rPr>
              <a:t>4. Kết quả thực nghiệm</a:t>
            </a:r>
          </a:p>
          <a:p>
            <a:pPr>
              <a:spcAft>
                <a:spcPts val="1200"/>
              </a:spcAft>
            </a:pPr>
            <a:r>
              <a:rPr sz="2200" b="1">
                <a:solidFill>
                  <a:srgbClr val="003266"/>
                </a:solidFill>
              </a:rPr>
              <a:t>5. So sánh với nền tảng thương mại</a:t>
            </a:r>
          </a:p>
          <a:p>
            <a:pPr>
              <a:spcAft>
                <a:spcPts val="1200"/>
              </a:spcAft>
            </a:pPr>
            <a:r>
              <a:rPr sz="2200" b="1">
                <a:solidFill>
                  <a:srgbClr val="003266"/>
                </a:solidFill>
              </a:rPr>
              <a:t>6. Kết luận &amp; Hướng phát triển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Bối cảnh &amp; Vấn đề nghiên cứu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/>
              <a:t>HAR (Human Activity Recognition): </a:t>
            </a:r>
            <a:r>
              <a:rPr sz="1500"/>
              <a:t>nhận dạng hoạt động từ cảm biến quán tính (IMU 6 trục)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/>
              <a:t>Ứng dụng: </a:t>
            </a:r>
            <a:r>
              <a:rPr sz="1500"/>
              <a:t>y tế (phát hiện té ngã), thể thao, công nghiệp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/>
              <a:t>Yêu cầu: </a:t>
            </a:r>
            <a:r>
              <a:rPr sz="1500"/>
              <a:t>xử lý ngay trên thiết bị (edge), không phụ thuộc mạng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/>
              <a:t>Khoảng cách triển khai: </a:t>
            </a:r>
            <a:r>
              <a:rPr sz="1500"/>
              <a:t>hầu hết nghiên cứu dừng ở Python prototype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/>
              <a:t>Nền tảng thương mại (Edge Impulse, SensiML): </a:t>
            </a:r>
            <a:r>
              <a:rPr sz="1500"/>
              <a:t>hộp đen, đắt tiền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/>
              <a:t>5 rào cản chính: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/>
              <a:t>  • Pipeline liên ngành phức tạp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/>
              <a:t>  • Parity gap: Python ≠ C++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/>
              <a:t>  • Thiếu công cụ mã nguồn mở end-to-end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/>
              <a:t>  • Thiếu hỗ trợ ML cổ điển (RF, SVM)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/>
              <a:t>  • Nền tảng thương mại: hộp đen, khó kiểm chứng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1828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070C0"/>
                </a:solidFill>
              </a:rPr>
              <a:t>Bối cảnh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Mục tiêu &amp; Đóng góp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/>
              <a:t>Mục tiêu nghiên cứu: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/>
              <a:t>  ✓ Framework end-to-end: dữ liệu → mã C++ trên MCU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/>
              <a:t>  ✓ Giao diện tương tác, không cần kỹ năng nhúng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/>
              <a:t>  ✓ Đảm bảo tương đồng huấn luyện–triển khai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/>
              <a:t>  ✓ Hỗ trợ đa nền tảng, đa thuật toán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/>
              <a:t>  ✓ Xác thực trên thiết bị thực (XIAO nRF52840)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/>
              <a:t>Đóng góp chính: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/>
              <a:t>  ✓ Phân đoạn cửa sổ kéo thả tương tác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/>
              <a:t>  ✓ Pipeline đảm bảo parity Python ↔ C++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/>
              <a:t>  ✓ Chiến lược đệm cửa sổ có cơ sở vật lý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/>
              <a:t>  ✓ 6 chế độ đặc trưng (orientation-invariant)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/>
              <a:t>  ✓ Tạo mã đa nền tảng: Arduino, ARM, Zephyr, MicroPython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1828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070C0"/>
                </a:solidFill>
              </a:rPr>
              <a:t>Mục tiêu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Kiến trúc Framework: 6 Tab Tuần tự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0" y="1828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070C0"/>
                </a:solidFill>
              </a:rPr>
              <a:t>Kiến trúc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Tab 1: Dữ liệu</a:t>
            </a:r>
          </a:p>
        </p:txBody>
        <p:spPr/>
        <a:spPr>
          <a:solidFill>
            <a:srgbClr val="003266"/>
          </a:solidFill>
        </a:spPr>
      </p:sp>
      <p:sp>
        <p:nvSpPr>
          <p:cNvPr id="5" name="TextBox 4"/>
          <p:cNvSpPr txBox="1"/>
          <p:nvPr/>
        </p:nvSpPr>
        <p:spPr>
          <a:xfrm>
            <a:off x="731520" y="24231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</a:rPr>
              <a:t>CSV
100 Hz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92024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70C0"/>
                </a:solidFill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6459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Tab 2: Tiền xử lý</a:t>
            </a:r>
          </a:p>
        </p:txBody>
        <p:spPr/>
        <a:spPr>
          <a:solidFill>
            <a:srgbClr val="003266"/>
          </a:solidFill>
        </a:spPr>
      </p:sp>
      <p:sp>
        <p:nvSpPr>
          <p:cNvPr id="8" name="TextBox 7"/>
          <p:cNvSpPr txBox="1"/>
          <p:nvPr/>
        </p:nvSpPr>
        <p:spPr>
          <a:xfrm>
            <a:off x="2560320" y="24231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</a:rPr>
              <a:t>Lọc
Kéo thả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92024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70C0"/>
                </a:solidFill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6459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Tab 3: Đặc trưng</a:t>
            </a:r>
          </a:p>
        </p:txBody>
        <p:spPr/>
        <a:spPr>
          <a:solidFill>
            <a:srgbClr val="003266"/>
          </a:solidFill>
        </a:spPr>
      </p:sp>
      <p:sp>
        <p:nvSpPr>
          <p:cNvPr id="11" name="TextBox 10"/>
          <p:cNvSpPr txBox="1"/>
          <p:nvPr/>
        </p:nvSpPr>
        <p:spPr>
          <a:xfrm>
            <a:off x="4389120" y="24231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</a:rPr>
              <a:t>63 feat
6 chế độ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92024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70C0"/>
                </a:solidFill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6459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Tab 4: Huấn luyện</a:t>
            </a:r>
          </a:p>
        </p:txBody>
        <p:spPr/>
        <a:spPr>
          <a:solidFill>
            <a:srgbClr val="003266"/>
          </a:solidFill>
        </a:spPr>
      </p:sp>
      <p:sp>
        <p:nvSpPr>
          <p:cNvPr id="14" name="TextBox 13"/>
          <p:cNvSpPr txBox="1"/>
          <p:nvPr/>
        </p:nvSpPr>
        <p:spPr>
          <a:xfrm>
            <a:off x="6217920" y="24231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</a:rPr>
              <a:t>RF/SVM
NN/CNN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192024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70C0"/>
                </a:solidFill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16459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Tab 5: Tạo mã</a:t>
            </a:r>
          </a:p>
        </p:txBody>
        <p:spPr/>
        <a:spPr>
          <a:solidFill>
            <a:srgbClr val="003266"/>
          </a:solidFill>
        </a:spPr>
      </p:sp>
      <p:sp>
        <p:nvSpPr>
          <p:cNvPr id="17" name="TextBox 16"/>
          <p:cNvSpPr txBox="1"/>
          <p:nvPr/>
        </p:nvSpPr>
        <p:spPr>
          <a:xfrm>
            <a:off x="8046720" y="24231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</a:rPr>
              <a:t>C++/MPy
Đa nền tảng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192024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70C0"/>
                </a:solidFill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16459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Tab 6: Kiểm tra</a:t>
            </a:r>
          </a:p>
        </p:txBody>
        <p:spPr/>
        <a:spPr>
          <a:solidFill>
            <a:srgbClr val="003266"/>
          </a:solidFill>
        </a:spPr>
      </p:sp>
      <p:sp>
        <p:nvSpPr>
          <p:cNvPr id="20" name="TextBox 19"/>
          <p:cNvSpPr txBox="1"/>
          <p:nvPr/>
        </p:nvSpPr>
        <p:spPr>
          <a:xfrm>
            <a:off x="9875520" y="24231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</a:rPr>
              <a:t>Serial
XIAO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2004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3266"/>
                </a:solidFill>
              </a:rPr>
              <a:t>Công nghệ: </a:t>
            </a:r>
            <a:r>
              <a:rPr sz="1400">
                <a:solidFill>
                  <a:srgbClr val="333333"/>
                </a:solidFill>
              </a:rPr>
              <a:t>Python 3 · Dash 2.14 · scikit-learn · PyTorch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6118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3266"/>
                </a:solidFill>
              </a:rPr>
              <a:t>Lưu trữ: </a:t>
            </a:r>
            <a:r>
              <a:rPr sz="1400">
                <a:solidFill>
                  <a:srgbClr val="333333"/>
                </a:solidFill>
              </a:rPr>
              <a:t>persistent_data/ (CSV → joblib → .h/.ino) — không cần 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0233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3266"/>
                </a:solidFill>
              </a:rPr>
              <a:t>Thiết bị: </a:t>
            </a:r>
            <a:r>
              <a:rPr sz="1400">
                <a:solidFill>
                  <a:srgbClr val="333333"/>
                </a:solidFill>
              </a:rPr>
              <a:t>Seeed XIAO nRF52840 — ARM Cortex-M4F 64 MHz — IMU LSM6DS3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Tiền xử lý Tương tác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0" y="1828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070C0"/>
                </a:solidFill>
              </a:rPr>
              <a:t>Tính năng cốt lõi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>Phân đoạn cửa sổ kéo thả (novel):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>  • Biểu đồ tín hiệu tương tác Plotly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>  • Kéo thả vùng hoạt động trên đồ thị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>  • Giảm ~60–80% thời gian tiền xử lý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>Bộ lọc: Butterworth / Savitzky-Golay / Kalman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>Đệm cửa sổ: edge-value replication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>  • Bảo toàn đặc tính vật lý của tín hiệu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>  • Tránh giá trị acc_mag = 0 (bất khả thi)</a:t>
            </a:r>
          </a:p>
        </p:txBody>
      </p:sp>
      <p:pic>
        <p:nvPicPr>
          <p:cNvPr id="5" name="Picture 4" descr="ui_preprocessing_dragg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8785" y="1371600"/>
            <a:ext cx="561019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Trích xuất Đặc trưng &amp; Parity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0" y="1828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070C0"/>
                </a:solidFill>
              </a:rPr>
              <a:t>Tính năng cốt lõi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>6 chế độ đặc trưng: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>  • orientation_invariant (63) ← mặc định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>  • time_domain (90)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>  • all (156) | frequency_domain (66)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>  • orientation_invariant_time_only (33) | raw (6)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>15 thống kê/tín hiệu: mean, std, min, max, range, median, Q25, Q75, IQR, skewness, kurtosis, RMS, energy, ZCR, MCR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>Đảm bảo parity Python ↔ C++: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>  • Cùng công thức, cùng thứ tự, cùng đơn vị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>  • Reorder tham số tại thời điểm sinh mã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/>
              <a:t>  • Chuẩn hóa 1 lần duy nhất trong pipeline</a:t>
            </a:r>
          </a:p>
        </p:txBody>
      </p:sp>
      <p:pic>
        <p:nvPicPr>
          <p:cNvPr id="5" name="Picture 4" descr="ui_feature_enginee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3025" y="1371600"/>
            <a:ext cx="571899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Tạo Mã Triển khai Đa Nền tảng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0" y="1828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070C0"/>
                </a:solidFill>
              </a:rPr>
              <a:t>Tính năng cốt lõi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>Nền tảng đích: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>  • Arduino (XIAO, ESP32, M5Stack, Teensy)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>  • ARM Cortex-M generic (C thuần)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>  • ESP-IDF, Zephyr RTOS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>  • MicroPython (không cần NumPy)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>  • TFLite Micro / ONNX Runtime (NN/CNN)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>4 chế độ tối ưu: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>  accuracy | balanced | speed | power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>Kiến trúc: BaseCodeGenerator → subclass theo từng loại mô hình (NN, RF, SVM, CNN)</a:t>
            </a:r>
          </a:p>
        </p:txBody>
      </p:sp>
      <p:pic>
        <p:nvPicPr>
          <p:cNvPr id="5" name="Picture 4" descr="ui_code_gene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0961" y="1371600"/>
            <a:ext cx="5831597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Kết quả Huấn luyện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0" y="1828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070C0"/>
                </a:solidFill>
              </a:rPr>
              <a:t>Kết quả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8000"/>
                </a:solidFill>
              </a:rPr>
              <a:t>Bài toán 3 lớp: 100% tất cả thuật toán</a:t>
            </a:r>
          </a:p>
          <a:p>
            <a:r>
              <a:rPr sz="600"/>
              <a:t/>
            </a:r>
          </a:p>
          <a:p>
            <a:r>
              <a:rPr sz="1600" b="1">
                <a:solidFill>
                  <a:srgbClr val="003266"/>
                </a:solidFill>
              </a:rPr>
              <a:t>Bài toán 5 lớp (229 mẫu kiểm tra):</a:t>
            </a:r>
          </a:p>
          <a:p>
            <a:pPr>
              <a:spcBef>
                <a:spcPts val="200"/>
              </a:spcBef>
            </a:pPr>
            <a:r>
              <a:rPr sz="1400"/>
              <a:t>  PyTorch MLP: 99,13%  (F1=0,990)</a:t>
            </a:r>
          </a:p>
          <a:p>
            <a:pPr>
              <a:spcBef>
                <a:spcPts val="200"/>
              </a:spcBef>
            </a:pPr>
            <a:r>
              <a:rPr sz="1400"/>
              <a:t>  PyTorch 1D-CNN: 99,13%  (F1=0,992)</a:t>
            </a:r>
          </a:p>
          <a:p>
            <a:pPr>
              <a:spcBef>
                <a:spcPts val="200"/>
              </a:spcBef>
            </a:pPr>
            <a:r>
              <a:rPr sz="1400"/>
              <a:t>  Neural Network (sklearn): 98,69%  (F1=0,984)</a:t>
            </a:r>
          </a:p>
          <a:p>
            <a:pPr>
              <a:spcBef>
                <a:spcPts val="200"/>
              </a:spcBef>
            </a:pPr>
            <a:r>
              <a:rPr sz="1400"/>
              <a:t>  Random Forest: 98,25%  (F1=0,981)</a:t>
            </a:r>
          </a:p>
          <a:p>
            <a:pPr>
              <a:spcBef>
                <a:spcPts val="200"/>
              </a:spcBef>
            </a:pPr>
            <a:r>
              <a:rPr sz="1400"/>
              <a:t>  SVM (RBF): 97,38%  (F1=0,972)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0070C0"/>
                </a:solidFill>
              </a:rPr>
              <a:t>→ Chênh lệch chỉ 1,75% → chất lượng đặc trưng quan trọng hơn lựa chọn thuật toán</a:t>
            </a:r>
          </a:p>
        </p:txBody>
      </p:sp>
      <p:pic>
        <p:nvPicPr>
          <p:cNvPr id="5" name="Picture 4" descr="ui_mlp_training_c5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2160843"/>
            <a:ext cx="5943600" cy="326783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Kết quả Triển khai Thiết bị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/>
              <a:t>Thiết bị: </a:t>
            </a:r>
            <a:r>
              <a:rPr sz="1500"/>
              <a:t>Seeed XIAO nRF52840 (Cortex-M4F 64MHz)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/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/>
              <a:t>Hiệu suất trên thiết bị: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/>
              <a:t>  ✓ 1D-CNN: </a:t>
            </a:r>
            <a:r>
              <a:rPr sz="1500"/>
              <a:t>ổn định cả 3 và 5 lớp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/>
              <a:t>  • NN sklearn: </a:t>
            </a:r>
            <a:r>
              <a:rPr sz="1500"/>
              <a:t>lỗi ở một số điều kiện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/>
              <a:t>  • RF: </a:t>
            </a:r>
            <a:r>
              <a:rPr sz="1500"/>
              <a:t>ổn định cho 3 lớp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/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/>
              <a:t>Tài nguyên (Neural Network):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/>
              <a:t>  • Flash: </a:t>
            </a:r>
            <a:r>
              <a:rPr sz="1500"/>
              <a:t>~95 KB (trọng số + FE + scaler)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/>
              <a:t>  • SRAM: </a:t>
            </a:r>
            <a:r>
              <a:rPr sz="1500"/>
              <a:t>&lt; 8 KB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/>
              <a:t>  • Suy luận: </a:t>
            </a:r>
            <a:r>
              <a:rPr sz="1500"/>
              <a:t>&lt; 100 ms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>So sánh với TFLite Micro: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>                 Framework    TFLite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>  Flash (NN):   95 KB         ~245 KB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>  RF/SVM:        ✓ Hỗ trợ     ✗ Không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>  Mã đọc được:  ✓               ✗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>Bài học: chênh lệch 1,75% offline không dự đoán được hiệu suất thực trên thiết bị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/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/>
              <a:t>→ Tiêu chí chọn mô hình phải bao gồm tính ổn định triển khai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1828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070C0"/>
                </a:solidFill>
              </a:rPr>
              <a:t>Kết quả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 sánh với Nền tảng Thương mại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300" b="1">
                <a:solidFill>
                  <a:srgbClr val="003266"/>
                </a:solidFill>
                <a:latin typeface="Consolas"/>
              </a:rPr>
              <a:t>Tiêu chí                       Edge Impulse       SensiML            Framework này     </a:t>
            </a:r>
          </a:p>
          <a:p>
            <a:pPr>
              <a:spcBef>
                <a:spcPts val="100"/>
              </a:spcBef>
            </a:pPr>
            <a:r>
              <a:rPr sz="1300">
                <a:latin typeface="Consolas"/>
              </a:rPr>
              <a:t>Chi phí                        $20–99/tháng       $99–500/tháng      Miễn phí          </a:t>
            </a:r>
          </a:p>
          <a:p>
            <a:pPr>
              <a:spcBef>
                <a:spcPts val="100"/>
              </a:spcBef>
            </a:pPr>
            <a:r>
              <a:rPr sz="1300">
                <a:latin typeface="Consolas"/>
              </a:rPr>
              <a:t>Mã nguồn mở                    ✗                  ✗                  ✓                 </a:t>
            </a:r>
          </a:p>
          <a:p>
            <a:pPr>
              <a:spcBef>
                <a:spcPts val="100"/>
              </a:spcBef>
            </a:pPr>
            <a:r>
              <a:rPr sz="1300">
                <a:latin typeface="Consolas"/>
              </a:rPr>
              <a:t>Minh bạch mã sinh ra           Hộp đen            Hộp đen            ✓ Toàn bộ         </a:t>
            </a:r>
          </a:p>
          <a:p>
            <a:pPr>
              <a:spcBef>
                <a:spcPts val="100"/>
              </a:spcBef>
            </a:pPr>
            <a:r>
              <a:rPr sz="1300">
                <a:latin typeface="Consolas"/>
              </a:rPr>
              <a:t>Đảm bảo parity                 Không rõ           Không rõ           ✓ Bit-exact       </a:t>
            </a:r>
          </a:p>
          <a:p>
            <a:pPr>
              <a:spcBef>
                <a:spcPts val="100"/>
              </a:spcBef>
            </a:pPr>
            <a:r>
              <a:rPr sz="1300">
                <a:latin typeface="Consolas"/>
              </a:rPr>
              <a:t>Hỗ trợ RF/SVM                  Giới hạn           Có                 ✓                 </a:t>
            </a:r>
          </a:p>
          <a:p>
            <a:pPr>
              <a:spcBef>
                <a:spcPts val="100"/>
              </a:spcBef>
            </a:pPr>
            <a:r>
              <a:rPr sz="1300">
                <a:latin typeface="Consolas"/>
              </a:rPr>
              <a:t>F1 (3 lớp, cùng data)          0,96               —                  1,00              </a:t>
            </a:r>
          </a:p>
          <a:p>
            <a:pPr>
              <a:spcBef>
                <a:spcPts val="100"/>
              </a:spcBef>
            </a:pPr>
            <a:r>
              <a:rPr sz="1300">
                <a:latin typeface="Consolas"/>
              </a:rPr>
              <a:t>Flash (NN)                     51%                —                  18–23%            </a:t>
            </a:r>
          </a:p>
          <a:p>
            <a:pPr>
              <a:spcBef>
                <a:spcPts val="1400"/>
              </a:spcBef>
            </a:pPr>
            <a:r>
              <a:rPr sz="1500" b="1">
                <a:solidFill>
                  <a:srgbClr val="0070C0"/>
                </a:solidFill>
              </a:rPr>
              <a:t>→ Tính minh bạch hoàn toàn là yêu cầu kỹ thuật thiết yếu cho edge ML, không chỉ triết lý mã nguồn mở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1828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070C0"/>
                </a:solidFill>
              </a:rPr>
              <a:t>So sánh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Kết luận &amp; Hướng phát triển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/>
              <a:t>Đã đạt được: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/>
              <a:t>  ✓ Framework end-to-end, mã nguồn mở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/>
              <a:t>  ✓ 97–99% (5 lớp), 100% (3 lớp)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/>
              <a:t>  ✓ Tương đồng huấn luyện–triển khai đảm bảo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/>
              <a:t>  ✓ Triển khai thành công trên XIAO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/>
              <a:t>  ✓ Vượt Edge Impulse: F1 1,00 vs 0,96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/>
              <a:t>Hướng phát triển: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/>
              <a:t>  • Dữ liệu đa đối tượng, đa hướng gắn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/>
              <a:t>  • Học liên tục trên thiết bị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/>
              <a:t>  • Sensor fusion (IMU + nhiệt + nhịp tim)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/>
              <a:t>  • CAE học đặc trưng tự động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/>
              <a:t>  • Tối ưu đa mục tiêu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600"/>
              <a:t>  • Phát hiện bất thường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1828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070C0"/>
                </a:solidFill>
              </a:rPr>
              <a:t>Kết luận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3200"/>
              <a:t>Cảm ơn Quý Thầy/Cô &amp; Hội đồng</a:t>
            </a:r>
          </a:p>
          <a:p>
            <a:pPr algn="ctr"/>
          </a:p>
          <a:p>
            <a:pPr algn="ctr"/>
            <a:r>
              <a:rPr sz="3200"/>
              <a:t>Q&amp;A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</a:p>
          <a:p>
            <a:pPr algn="ctr"/>
            <a:r>
              <a:rPr sz="1400"/>
              <a:t>Sinh viên: Nguyễn Trương Minh Hoàng — MSSV: 2270757</a:t>
            </a:r>
          </a:p>
          <a:p>
            <a:pPr algn="ctr"/>
            <a:r>
              <a:rPr sz="1400"/>
              <a:t>GVHD: TS. Lê Trọng Nhân</a:t>
            </a:r>
          </a:p>
          <a:p>
            <a:pPr algn="ctr"/>
          </a:p>
          <a:p>
            <a:pPr algn="ctr"/>
            <a:r>
              <a:rPr sz="1400"/>
              <a:t>"Tính minh bạch không chỉ là triết lý mã nguồn mở</a:t>
            </a:r>
          </a:p>
          <a:p>
            <a:pPr algn="ctr"/>
            <a:r>
              <a:rPr sz="1400"/>
              <a:t>— đây là yêu cầu kỹ thuật thiết yếu cho edge AI đáng tin cậy."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589</TotalTime>
  <Words>2750</Words>
  <Application>Microsoft Office PowerPoint</Application>
  <PresentationFormat>Widescreen</PresentationFormat>
  <Paragraphs>293</Paragraphs>
  <Slides>25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Aptos</vt:lpstr>
      <vt:lpstr>Arial</vt:lpstr>
      <vt:lpstr>Calibri</vt:lpstr>
      <vt:lpstr>Calibri Light</vt:lpstr>
      <vt:lpstr>1_Office Theme</vt:lpstr>
      <vt:lpstr>Xây dựng framework tạo dựng mô hình AI cho các ứng dụng theo dõi chuyển động của con người</vt:lpstr>
      <vt:lpstr>Nội dung</vt:lpstr>
      <vt:lpstr>Background: Motion Tracking &amp; AI Integration</vt:lpstr>
      <vt:lpstr>Problem Statement</vt:lpstr>
      <vt:lpstr>Research Goals</vt:lpstr>
      <vt:lpstr>Motion Tracking Applications</vt:lpstr>
      <vt:lpstr>AI Models Generation Techniques</vt:lpstr>
      <vt:lpstr>AI Models Generation Techniques</vt:lpstr>
      <vt:lpstr>AI Models Generation Techniques</vt:lpstr>
      <vt:lpstr>Benefits of Motion Tracking AI Models</vt:lpstr>
      <vt:lpstr>Challenges in Motion Tracking AI Models</vt:lpstr>
      <vt:lpstr>Challenges in Motion Tracking &amp; AI Integration</vt:lpstr>
      <vt:lpstr>Current Trends in Motion Tracking and AI Integration</vt:lpstr>
      <vt:lpstr>Hardware Configuration</vt:lpstr>
      <vt:lpstr>Hardware Configuration</vt:lpstr>
      <vt:lpstr>Hardware Configuration</vt:lpstr>
      <vt:lpstr>Software Configuration</vt:lpstr>
      <vt:lpstr>Data Acquisition</vt:lpstr>
      <vt:lpstr>Data Acquisition</vt:lpstr>
      <vt:lpstr>Data Acquisition</vt:lpstr>
      <vt:lpstr>Data Acquisition</vt:lpstr>
      <vt:lpstr>Data Acquisition</vt:lpstr>
      <vt:lpstr>PowerPoint Presentation</vt:lpstr>
      <vt:lpstr>PowerPoint Presentation</vt:lpstr>
      <vt:lpstr>Thank You For Listening  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Hoang Nguyen Truong Minh</dc:creator>
  <cp:lastModifiedBy>Hoang Nguyen Truong Minh</cp:lastModifiedBy>
  <cp:revision>3</cp:revision>
  <dcterms:created xsi:type="dcterms:W3CDTF">2024-12-17T18:20:16Z</dcterms:created>
  <dcterms:modified xsi:type="dcterms:W3CDTF">2026-06-08T15:56:32Z</dcterms:modified>
</cp:coreProperties>
</file>